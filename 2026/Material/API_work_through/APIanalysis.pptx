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28EA"/>
    <a:srgbClr val="FF81A6"/>
    <a:srgbClr val="132B4E"/>
    <a:srgbClr val="F8971D"/>
    <a:srgbClr val="EF413C"/>
    <a:srgbClr val="9091B3"/>
    <a:srgbClr val="909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F74FF-5AA4-30E7-299E-043C5FF6FDB3}" v="10" dt="2022-06-14T11:50:20.200"/>
    <p1510:client id="{80BACCFD-51DE-FA10-C11D-5DB58B91893E}" v="5" dt="2022-06-14T11:03:50.590"/>
    <p1510:client id="{FAF967AC-F19E-3F40-AD97-827B25808CDE}" v="3" dt="2021-10-19T14:56:03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7"/>
    <p:restoredTop sz="94674"/>
  </p:normalViewPr>
  <p:slideViewPr>
    <p:cSldViewPr snapToGrid="0" snapToObjects="1">
      <p:cViewPr varScale="1">
        <p:scale>
          <a:sx n="107" d="100"/>
          <a:sy n="107" d="100"/>
        </p:scale>
        <p:origin x="7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ley, Greg" userId="76bdb626-9454-41ed-a19c-c2e37ea105e7" providerId="ADAL" clId="{FAF967AC-F19E-3F40-AD97-827B25808CDE}"/>
    <pc:docChg chg="custSel modSld">
      <pc:chgData name="Bailey, Greg" userId="76bdb626-9454-41ed-a19c-c2e37ea105e7" providerId="ADAL" clId="{FAF967AC-F19E-3F40-AD97-827B25808CDE}" dt="2021-10-19T14:57:02.754" v="385" actId="1076"/>
      <pc:docMkLst>
        <pc:docMk/>
      </pc:docMkLst>
      <pc:sldChg chg="addSp delSp modSp mod">
        <pc:chgData name="Bailey, Greg" userId="76bdb626-9454-41ed-a19c-c2e37ea105e7" providerId="ADAL" clId="{FAF967AC-F19E-3F40-AD97-827B25808CDE}" dt="2021-10-19T14:56:34.124" v="384" actId="27636"/>
        <pc:sldMkLst>
          <pc:docMk/>
          <pc:sldMk cId="1771032060" sldId="263"/>
        </pc:sldMkLst>
        <pc:spChg chg="mod">
          <ac:chgData name="Bailey, Greg" userId="76bdb626-9454-41ed-a19c-c2e37ea105e7" providerId="ADAL" clId="{FAF967AC-F19E-3F40-AD97-827B25808CDE}" dt="2021-10-19T14:56:34.124" v="384" actId="27636"/>
          <ac:spMkLst>
            <pc:docMk/>
            <pc:sldMk cId="1771032060" sldId="263"/>
            <ac:spMk id="6" creationId="{9FDBD6F3-3839-BF4D-B449-D279C0ED0C1E}"/>
          </ac:spMkLst>
        </pc:spChg>
        <pc:picChg chg="add mod">
          <ac:chgData name="Bailey, Greg" userId="76bdb626-9454-41ed-a19c-c2e37ea105e7" providerId="ADAL" clId="{FAF967AC-F19E-3F40-AD97-827B25808CDE}" dt="2021-10-19T14:56:19.046" v="365" actId="692"/>
          <ac:picMkLst>
            <pc:docMk/>
            <pc:sldMk cId="1771032060" sldId="263"/>
            <ac:picMk id="9" creationId="{9A4195EC-FE92-B546-883B-47FF37C61301}"/>
          </ac:picMkLst>
        </pc:picChg>
        <pc:picChg chg="del">
          <ac:chgData name="Bailey, Greg" userId="76bdb626-9454-41ed-a19c-c2e37ea105e7" providerId="ADAL" clId="{FAF967AC-F19E-3F40-AD97-827B25808CDE}" dt="2021-10-19T14:55:24.403" v="353" actId="478"/>
          <ac:picMkLst>
            <pc:docMk/>
            <pc:sldMk cId="1771032060" sldId="263"/>
            <ac:picMk id="10" creationId="{051D4B0F-7E64-7D42-A696-C4CD90304CE2}"/>
          </ac:picMkLst>
        </pc:picChg>
      </pc:sldChg>
      <pc:sldChg chg="addSp modSp mod">
        <pc:chgData name="Bailey, Greg" userId="76bdb626-9454-41ed-a19c-c2e37ea105e7" providerId="ADAL" clId="{FAF967AC-F19E-3F40-AD97-827B25808CDE}" dt="2021-10-19T14:57:02.754" v="385" actId="1076"/>
        <pc:sldMkLst>
          <pc:docMk/>
          <pc:sldMk cId="765893140" sldId="267"/>
        </pc:sldMkLst>
        <pc:spChg chg="mod">
          <ac:chgData name="Bailey, Greg" userId="76bdb626-9454-41ed-a19c-c2e37ea105e7" providerId="ADAL" clId="{FAF967AC-F19E-3F40-AD97-827B25808CDE}" dt="2021-10-08T09:20:50.023" v="178" actId="14100"/>
          <ac:spMkLst>
            <pc:docMk/>
            <pc:sldMk cId="765893140" sldId="267"/>
            <ac:spMk id="2" creationId="{078D7EDE-57A4-F84F-BB25-2D494DDB14D8}"/>
          </ac:spMkLst>
        </pc:spChg>
        <pc:spChg chg="add mod">
          <ac:chgData name="Bailey, Greg" userId="76bdb626-9454-41ed-a19c-c2e37ea105e7" providerId="ADAL" clId="{FAF967AC-F19E-3F40-AD97-827B25808CDE}" dt="2021-10-19T14:57:02.754" v="385" actId="1076"/>
          <ac:spMkLst>
            <pc:docMk/>
            <pc:sldMk cId="765893140" sldId="267"/>
            <ac:spMk id="10" creationId="{9869D706-F705-DC42-BF6E-9ACE10B04FF7}"/>
          </ac:spMkLst>
        </pc:spChg>
        <pc:spChg chg="add mod">
          <ac:chgData name="Bailey, Greg" userId="76bdb626-9454-41ed-a19c-c2e37ea105e7" providerId="ADAL" clId="{FAF967AC-F19E-3F40-AD97-827B25808CDE}" dt="2021-10-08T09:25:23.860" v="352" actId="1076"/>
          <ac:spMkLst>
            <pc:docMk/>
            <pc:sldMk cId="765893140" sldId="267"/>
            <ac:spMk id="11" creationId="{99B8DE2E-497B-5242-B979-73EDDC9826FE}"/>
          </ac:spMkLst>
        </pc:spChg>
        <pc:picChg chg="add mod">
          <ac:chgData name="Bailey, Greg" userId="76bdb626-9454-41ed-a19c-c2e37ea105e7" providerId="ADAL" clId="{FAF967AC-F19E-3F40-AD97-827B25808CDE}" dt="2021-10-08T09:21:49.553" v="187" actId="1076"/>
          <ac:picMkLst>
            <pc:docMk/>
            <pc:sldMk cId="765893140" sldId="267"/>
            <ac:picMk id="7" creationId="{A7DC71C2-DC84-2E49-ADF6-FD341997019D}"/>
          </ac:picMkLst>
        </pc:picChg>
        <pc:picChg chg="add mod">
          <ac:chgData name="Bailey, Greg" userId="76bdb626-9454-41ed-a19c-c2e37ea105e7" providerId="ADAL" clId="{FAF967AC-F19E-3F40-AD97-827B25808CDE}" dt="2021-10-08T09:21:47.562" v="186" actId="1076"/>
          <ac:picMkLst>
            <pc:docMk/>
            <pc:sldMk cId="765893140" sldId="267"/>
            <ac:picMk id="9" creationId="{773172D4-F5BD-F047-80B5-213DFDF4155E}"/>
          </ac:picMkLst>
        </pc:picChg>
      </pc:sldChg>
    </pc:docChg>
  </pc:docChgLst>
  <pc:docChgLst>
    <pc:chgData name="Bailey, Greg" userId="S::greg.bailey@ukaea.uk::76bdb626-9454-41ed-a19c-c2e37ea105e7" providerId="AD" clId="Web-{59CF74FF-5AA4-30E7-299E-043C5FF6FDB3}"/>
    <pc:docChg chg="modSld modMainMaster">
      <pc:chgData name="Bailey, Greg" userId="S::greg.bailey@ukaea.uk::76bdb626-9454-41ed-a19c-c2e37ea105e7" providerId="AD" clId="Web-{59CF74FF-5AA4-30E7-299E-043C5FF6FDB3}" dt="2022-06-14T11:50:20.200" v="8"/>
      <pc:docMkLst>
        <pc:docMk/>
      </pc:docMkLst>
      <pc:sldChg chg="modSp">
        <pc:chgData name="Bailey, Greg" userId="S::greg.bailey@ukaea.uk::76bdb626-9454-41ed-a19c-c2e37ea105e7" providerId="AD" clId="Web-{59CF74FF-5AA4-30E7-299E-043C5FF6FDB3}" dt="2022-06-14T11:49:49.372" v="0" actId="20577"/>
        <pc:sldMkLst>
          <pc:docMk/>
          <pc:sldMk cId="1775324726" sldId="257"/>
        </pc:sldMkLst>
        <pc:spChg chg="mod">
          <ac:chgData name="Bailey, Greg" userId="S::greg.bailey@ukaea.uk::76bdb626-9454-41ed-a19c-c2e37ea105e7" providerId="AD" clId="Web-{59CF74FF-5AA4-30E7-299E-043C5FF6FDB3}" dt="2022-06-14T11:49:49.372" v="0" actId="20577"/>
          <ac:spMkLst>
            <pc:docMk/>
            <pc:sldMk cId="1775324726" sldId="257"/>
            <ac:spMk id="4" creationId="{4221A171-6E32-3542-A6EE-F9F7544B3856}"/>
          </ac:spMkLst>
        </pc:spChg>
      </pc:sldChg>
      <pc:sldChg chg="delSp modSp">
        <pc:chgData name="Bailey, Greg" userId="S::greg.bailey@ukaea.uk::76bdb626-9454-41ed-a19c-c2e37ea105e7" providerId="AD" clId="Web-{59CF74FF-5AA4-30E7-299E-043C5FF6FDB3}" dt="2022-06-14T11:50:05.403" v="2"/>
        <pc:sldMkLst>
          <pc:docMk/>
          <pc:sldMk cId="2543759005" sldId="259"/>
        </pc:sldMkLst>
        <pc:spChg chg="del mod">
          <ac:chgData name="Bailey, Greg" userId="S::greg.bailey@ukaea.uk::76bdb626-9454-41ed-a19c-c2e37ea105e7" providerId="AD" clId="Web-{59CF74FF-5AA4-30E7-299E-043C5FF6FDB3}" dt="2022-06-14T11:50:05.403" v="2"/>
          <ac:spMkLst>
            <pc:docMk/>
            <pc:sldMk cId="2543759005" sldId="259"/>
            <ac:spMk id="4" creationId="{C3D52B36-8ABE-EA4E-9928-16E66D8CBA0B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301031469" sldId="260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301031469" sldId="260"/>
            <ac:spMk id="4" creationId="{DBE91A06-74F7-2D4C-94F3-79EB11488E61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4072093713" sldId="261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4072093713" sldId="261"/>
            <ac:spMk id="4" creationId="{E2A8E91E-1B59-7A49-B6BB-F8515FD60332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2104396979" sldId="262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2104396979" sldId="262"/>
            <ac:spMk id="4" creationId="{7DD91F6C-1DFC-EE44-84C6-67EC93AC03C3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1771032060" sldId="263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1771032060" sldId="263"/>
            <ac:spMk id="4" creationId="{F3D92EF7-C2FE-4B4A-BFF5-C6D209D77555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229053759" sldId="264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229053759" sldId="264"/>
            <ac:spMk id="4" creationId="{99818B3B-D0BF-5A49-88FE-46DD857F5183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2137437955" sldId="265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2137437955" sldId="265"/>
            <ac:spMk id="4" creationId="{59A34300-A32E-C04B-8A34-D528A2134A54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4123734346" sldId="266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4123734346" sldId="266"/>
            <ac:spMk id="4" creationId="{CD8FEA42-954A-9A4D-9B00-61C9CD7F5B40}"/>
          </ac:spMkLst>
        </pc:spChg>
      </pc:sldChg>
      <pc:sldChg chg="delSp">
        <pc:chgData name="Bailey, Greg" userId="S::greg.bailey@ukaea.uk::76bdb626-9454-41ed-a19c-c2e37ea105e7" providerId="AD" clId="Web-{59CF74FF-5AA4-30E7-299E-043C5FF6FDB3}" dt="2022-06-14T11:50:16.732" v="3"/>
        <pc:sldMkLst>
          <pc:docMk/>
          <pc:sldMk cId="765893140" sldId="267"/>
        </pc:sldMkLst>
        <pc:spChg chg="del">
          <ac:chgData name="Bailey, Greg" userId="S::greg.bailey@ukaea.uk::76bdb626-9454-41ed-a19c-c2e37ea105e7" providerId="AD" clId="Web-{59CF74FF-5AA4-30E7-299E-043C5FF6FDB3}" dt="2022-06-14T11:50:16.732" v="3"/>
          <ac:spMkLst>
            <pc:docMk/>
            <pc:sldMk cId="765893140" sldId="267"/>
            <ac:spMk id="4" creationId="{573DD786-6A23-F649-9572-F700EFB46EBA}"/>
          </ac:spMkLst>
        </pc:spChg>
      </pc:sldChg>
      <pc:sldMasterChg chg="mod modSldLayout">
        <pc:chgData name="Bailey, Greg" userId="S::greg.bailey@ukaea.uk::76bdb626-9454-41ed-a19c-c2e37ea105e7" providerId="AD" clId="Web-{59CF74FF-5AA4-30E7-299E-043C5FF6FDB3}" dt="2022-06-14T11:50:20.200" v="8"/>
        <pc:sldMasterMkLst>
          <pc:docMk/>
          <pc:sldMasterMk cId="31676753" sldId="2147483648"/>
        </pc:sldMasterMkLst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54068067" sldId="2147483650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336419388" sldId="2147483651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2023695212" sldId="2147483652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399426898" sldId="2147483653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1477052292" sldId="2147483655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147629382" sldId="2147483660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67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0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1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2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3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4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5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6"/>
          </pc:sldLayoutMkLst>
        </pc:sldLayoutChg>
        <pc:sldLayoutChg chg="mod">
          <pc:chgData name="Bailey, Greg" userId="S::greg.bailey@ukaea.uk::76bdb626-9454-41ed-a19c-c2e37ea105e7" providerId="AD" clId="Web-{59CF74FF-5AA4-30E7-299E-043C5FF6FDB3}" dt="2022-06-14T11:50:20.200" v="8"/>
          <pc:sldLayoutMkLst>
            <pc:docMk/>
            <pc:sldMasterMk cId="31676753" sldId="2147483648"/>
            <pc:sldLayoutMk cId="0" sldId="2147483677"/>
          </pc:sldLayoutMkLst>
        </pc:sldLayoutChg>
      </pc:sldMasterChg>
    </pc:docChg>
  </pc:docChgLst>
  <pc:docChgLst>
    <pc:chgData name="Bailey, Greg" userId="S::greg.bailey@ukaea.uk::76bdb626-9454-41ed-a19c-c2e37ea105e7" providerId="AD" clId="Web-{80BACCFD-51DE-FA10-C11D-5DB58B91893E}"/>
    <pc:docChg chg="modSld">
      <pc:chgData name="Bailey, Greg" userId="S::greg.bailey@ukaea.uk::76bdb626-9454-41ed-a19c-c2e37ea105e7" providerId="AD" clId="Web-{80BACCFD-51DE-FA10-C11D-5DB58B91893E}" dt="2022-06-14T11:03:50.590" v="4" actId="20577"/>
      <pc:docMkLst>
        <pc:docMk/>
      </pc:docMkLst>
      <pc:sldChg chg="modSp">
        <pc:chgData name="Bailey, Greg" userId="S::greg.bailey@ukaea.uk::76bdb626-9454-41ed-a19c-c2e37ea105e7" providerId="AD" clId="Web-{80BACCFD-51DE-FA10-C11D-5DB58B91893E}" dt="2022-06-14T11:03:50.590" v="4" actId="20577"/>
        <pc:sldMkLst>
          <pc:docMk/>
          <pc:sldMk cId="1775324726" sldId="257"/>
        </pc:sldMkLst>
        <pc:spChg chg="mod">
          <ac:chgData name="Bailey, Greg" userId="S::greg.bailey@ukaea.uk::76bdb626-9454-41ed-a19c-c2e37ea105e7" providerId="AD" clId="Web-{80BACCFD-51DE-FA10-C11D-5DB58B91893E}" dt="2022-06-14T11:03:50.590" v="4" actId="20577"/>
          <ac:spMkLst>
            <pc:docMk/>
            <pc:sldMk cId="1775324726" sldId="257"/>
            <ac:spMk id="4" creationId="{4221A171-6E32-3542-A6EE-F9F7544B385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494B7-3010-C04A-A8D2-3A67F5B3F7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9E3AD-85AA-4D4F-953B-BDDC046C417F}" type="datetimeFigureOut">
              <a:rPr lang="en-US" smtClean="0"/>
              <a:t>6/19/24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6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CD0D-D0C5-DD4D-B44E-98E59B6DF763}" type="datetimeFigureOut">
              <a:rPr lang="en-US" smtClean="0"/>
              <a:t>6/19/24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E606-7E0B-0B4A-8955-4487729D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DA416-708B-DD40-9BCB-CFF6201AA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245" y="-12851"/>
            <a:ext cx="12206472" cy="5324684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13255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680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ili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 marL="342900" indent="-342900">
              <a:buFont typeface="Arial" charset="0"/>
              <a:buChar char="•"/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Insert text or logos as </a:t>
            </a:r>
            <a:r>
              <a:rPr lang="en-US" dirty="0" err="1"/>
              <a:t>neccessary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66867" y="265043"/>
            <a:ext cx="853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32B4E"/>
                </a:solidFill>
                <a:effectLst/>
                <a:uLnTx/>
                <a:uFillTx/>
                <a:latin typeface="Arial Black" charset="0"/>
                <a:ea typeface="Arial Black" charset="0"/>
                <a:cs typeface="Arial Black" charset="0"/>
              </a:rPr>
              <a:t>Affiliations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166868" y="1530994"/>
            <a:ext cx="56246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0"/>
          </p:nvPr>
        </p:nvSpPr>
        <p:spPr>
          <a:xfrm>
            <a:off x="5980255" y="1530994"/>
            <a:ext cx="56523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6952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66868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0255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5980255" y="2354906"/>
            <a:ext cx="5624603" cy="36680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457189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2pPr>
            <a:lvl3pPr marL="914377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3pPr>
            <a:lvl4pPr marL="1371566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4pPr>
            <a:lvl5pPr marL="1828754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166868" y="2354906"/>
            <a:ext cx="5624603" cy="366806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268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0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66479" y="1308009"/>
            <a:ext cx="8853467" cy="396877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3600" spc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QUOTE HERE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886674" y="5564305"/>
            <a:ext cx="8413078" cy="487362"/>
          </a:xfrm>
        </p:spPr>
        <p:txBody>
          <a:bodyPr>
            <a:noAutofit/>
          </a:bodyPr>
          <a:lstStyle>
            <a:lvl1pPr algn="ctr">
              <a:defRPr sz="2000" b="1">
                <a:solidFill>
                  <a:srgbClr val="132B4E"/>
                </a:solidFill>
              </a:defRPr>
            </a:lvl1pPr>
          </a:lstStyle>
          <a:p>
            <a:pPr lvl="0"/>
            <a:r>
              <a:rPr lang="en-US" dirty="0"/>
              <a:t>NAME / DATE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31458" y="1034180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 dirty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573850" y="4825641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 dirty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3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522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F8971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93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876221" y="6387700"/>
            <a:ext cx="70088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1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97B0-40B1-AA40-8125-ECDD27463A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02" y="-12851"/>
            <a:ext cx="12223329" cy="5283120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95C9A-8DA6-EE45-B5F0-22704A8BE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599" y="-12652"/>
            <a:ext cx="12215599" cy="5432550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55666-9723-1348-8D74-D7342B5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BBF90A-8A69-3940-B96C-DD0AAFCF4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B911EF-2D19-2846-AB9B-CCF838D71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25" y="-12852"/>
            <a:ext cx="12203152" cy="5266495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ustom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0" y="-12699"/>
            <a:ext cx="12202079" cy="5246988"/>
          </a:xfrm>
          <a:custGeom>
            <a:avLst/>
            <a:gdLst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5225723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2916156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202079"/>
              <a:gd name="connsiteY0" fmla="*/ 0 h 5246988"/>
              <a:gd name="connsiteX1" fmla="*/ 10202575 w 12202079"/>
              <a:gd name="connsiteY1" fmla="*/ 0 h 5246988"/>
              <a:gd name="connsiteX2" fmla="*/ 12196763 w 12202079"/>
              <a:gd name="connsiteY2" fmla="*/ 1994188 h 5246988"/>
              <a:gd name="connsiteX3" fmla="*/ 12202079 w 12202079"/>
              <a:gd name="connsiteY3" fmla="*/ 5246988 h 5246988"/>
              <a:gd name="connsiteX4" fmla="*/ 0 w 12202079"/>
              <a:gd name="connsiteY4" fmla="*/ 2916156 h 5246988"/>
              <a:gd name="connsiteX5" fmla="*/ 0 w 12202079"/>
              <a:gd name="connsiteY5" fmla="*/ 0 h 5246988"/>
              <a:gd name="connsiteX6" fmla="*/ 0 w 12202079"/>
              <a:gd name="connsiteY6" fmla="*/ 0 h 52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2079" h="5246988">
                <a:moveTo>
                  <a:pt x="0" y="0"/>
                </a:moveTo>
                <a:lnTo>
                  <a:pt x="10202575" y="0"/>
                </a:lnTo>
                <a:lnTo>
                  <a:pt x="12196763" y="1994188"/>
                </a:lnTo>
                <a:lnTo>
                  <a:pt x="12202079" y="5246988"/>
                </a:lnTo>
                <a:lnTo>
                  <a:pt x="0" y="291615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314930"/>
            <a:ext cx="11150600" cy="4862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4" name="Title Placeholder 23"/>
          <p:cNvSpPr>
            <a:spLocks noGrp="1"/>
          </p:cNvSpPr>
          <p:nvPr>
            <p:ph type="title"/>
          </p:nvPr>
        </p:nvSpPr>
        <p:spPr>
          <a:xfrm>
            <a:off x="203200" y="190097"/>
            <a:ext cx="11150600" cy="10945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" y="6387702"/>
            <a:ext cx="663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 i="0">
                <a:solidFill>
                  <a:srgbClr val="F8971D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876221" y="6387700"/>
            <a:ext cx="7008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G. Bailey, FII API analysis, 2021</a:t>
            </a:r>
            <a:endParaRPr lang="en-US" dirty="0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7135" y="6176963"/>
            <a:ext cx="1497403" cy="50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73" r:id="rId3"/>
    <p:sldLayoutId id="2147483652" r:id="rId4"/>
    <p:sldLayoutId id="2147483653" r:id="rId5"/>
    <p:sldLayoutId id="2147483660" r:id="rId6"/>
    <p:sldLayoutId id="2147483655" r:id="rId7"/>
    <p:sldLayoutId id="2147483651" r:id="rId8"/>
    <p:sldLayoutId id="2147483677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2" r:id="rId15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132B4E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4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B0CB-87B5-B642-9415-BD8F3CDFB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FISPACT-II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4F220-FD66-0B44-B2C2-D08610B100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FISPACT-II API to aid complex activation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1A171-6E32-3542-A6EE-F9F7544B38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 dirty="0">
                <a:latin typeface="Arial Black"/>
              </a:rPr>
              <a:t>FISPACT-II workshop</a:t>
            </a:r>
          </a:p>
        </p:txBody>
      </p:sp>
    </p:spTree>
    <p:extLst>
      <p:ext uri="{BB962C8B-B14F-4D97-AF65-F5344CB8AC3E}">
        <p14:creationId xmlns:p14="http://schemas.microsoft.com/office/powerpoint/2010/main" val="177532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2951C2-14AC-B84F-BCA8-95DDCF919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8" y="1640325"/>
            <a:ext cx="11465690" cy="426351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Often predictions of radiological observables across complex geometry are desired.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Studying complex geometries with transport codes (such as MCNP, </a:t>
            </a:r>
            <a:r>
              <a:rPr lang="en-GB" dirty="0" err="1"/>
              <a:t>OpenMC</a:t>
            </a:r>
            <a:r>
              <a:rPr lang="en-GB" dirty="0"/>
              <a:t>, Serpent etc) is a well-established approach.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Performing detailed activation analysis on such geometries is often cumbersome.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FISPACT-II API has been developed to aid such calculations:</a:t>
            </a:r>
          </a:p>
          <a:p>
            <a:pPr marL="1257277" lvl="2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No multiple input files. ✔️</a:t>
            </a:r>
          </a:p>
          <a:p>
            <a:pPr marL="1257277" lvl="2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Nuclear data only needs to be loaded once. ✔️</a:t>
            </a:r>
          </a:p>
          <a:p>
            <a:pPr marL="1257277" lvl="2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Only output precisely what is required. ✔️</a:t>
            </a:r>
          </a:p>
          <a:p>
            <a:pPr marL="1257277" lvl="2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Analysis can be automated and included within the same script. ✔️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BDD077-543E-BF47-90E0-F376FD86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Activation analysis and nuclear responses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06F51-FBCB-FA47-B725-C7DC5D0E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5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B16341-302F-4140-B89F-B7697FB38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43185" y="963700"/>
            <a:ext cx="8526119" cy="517984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An imaginary component is made up of 10 cells.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It will experience neutron irradiation and is expected to become activated.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To run any FISPACT-II calculation the following is required:</a:t>
            </a:r>
          </a:p>
          <a:p>
            <a:pPr marL="800089" lvl="1" indent="-342900">
              <a:buFont typeface="Wingdings" pitchFamily="2" charset="2"/>
              <a:buChar char="ü"/>
            </a:pPr>
            <a:r>
              <a:rPr lang="en-GB" dirty="0"/>
              <a:t>The neutron flux experienced by each cell (</a:t>
            </a:r>
            <a:r>
              <a:rPr lang="en-GB" b="1" dirty="0">
                <a:solidFill>
                  <a:schemeClr val="accent1"/>
                </a:solidFill>
              </a:rPr>
              <a:t>fluxes file</a:t>
            </a:r>
            <a:r>
              <a:rPr lang="en-GB" dirty="0"/>
              <a:t>).</a:t>
            </a:r>
          </a:p>
          <a:p>
            <a:pPr marL="800089" lvl="1" indent="-342900">
              <a:buFont typeface="Wingdings" pitchFamily="2" charset="2"/>
              <a:buChar char="ü"/>
            </a:pPr>
            <a:r>
              <a:rPr lang="en-GB" dirty="0"/>
              <a:t>The elemental/nuclide make up of each cell (</a:t>
            </a:r>
            <a:r>
              <a:rPr lang="en-GB" b="1" dirty="0">
                <a:solidFill>
                  <a:schemeClr val="accent1"/>
                </a:solidFill>
              </a:rPr>
              <a:t>input file</a:t>
            </a:r>
            <a:r>
              <a:rPr lang="en-GB" dirty="0"/>
              <a:t>).</a:t>
            </a:r>
          </a:p>
          <a:p>
            <a:pPr marL="800089" lvl="1" indent="-342900">
              <a:buFont typeface="Wingdings" pitchFamily="2" charset="2"/>
              <a:buChar char="ü"/>
            </a:pPr>
            <a:r>
              <a:rPr lang="en-GB" dirty="0"/>
              <a:t>The irradiation schedule each cell experiences (</a:t>
            </a:r>
            <a:r>
              <a:rPr lang="en-GB" b="1" dirty="0">
                <a:solidFill>
                  <a:schemeClr val="accent1"/>
                </a:solidFill>
              </a:rPr>
              <a:t>input file</a:t>
            </a:r>
            <a:r>
              <a:rPr lang="en-GB" dirty="0"/>
              <a:t>).</a:t>
            </a:r>
          </a:p>
          <a:p>
            <a:pPr marL="800089" lvl="1" indent="-342900">
              <a:buFont typeface="Wingdings" pitchFamily="2" charset="2"/>
              <a:buChar char="ü"/>
            </a:pPr>
            <a:r>
              <a:rPr lang="en-GB" dirty="0"/>
              <a:t>The chosen nuclear data for the calculation (</a:t>
            </a:r>
            <a:r>
              <a:rPr lang="en-GB" b="1" i="1" dirty="0">
                <a:solidFill>
                  <a:schemeClr val="accent1"/>
                </a:solidFill>
              </a:rPr>
              <a:t>files</a:t>
            </a:r>
            <a:r>
              <a:rPr lang="en-GB" b="1" dirty="0">
                <a:solidFill>
                  <a:schemeClr val="accent1"/>
                </a:solidFill>
              </a:rPr>
              <a:t> file</a:t>
            </a:r>
            <a:r>
              <a:rPr lang="en-GB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Each standard FISPACT-II calculation will require minimum 3 files and produce minimum 4 files (</a:t>
            </a:r>
            <a:r>
              <a:rPr lang="en-GB" dirty="0">
                <a:solidFill>
                  <a:schemeClr val="accent1"/>
                </a:solidFill>
              </a:rPr>
              <a:t>ARRAYX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COLLAPX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log</a:t>
            </a:r>
            <a:r>
              <a:rPr lang="en-GB" dirty="0"/>
              <a:t> and </a:t>
            </a:r>
            <a:r>
              <a:rPr lang="en-GB" dirty="0">
                <a:solidFill>
                  <a:schemeClr val="accent1"/>
                </a:solidFill>
              </a:rPr>
              <a:t>out</a:t>
            </a:r>
            <a:r>
              <a:rPr lang="en-GB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10 cell component will require 70 files (61 if the same </a:t>
            </a:r>
            <a:r>
              <a:rPr lang="en-GB" i="1" dirty="0">
                <a:solidFill>
                  <a:schemeClr val="accent1"/>
                </a:solidFill>
              </a:rPr>
              <a:t>files</a:t>
            </a:r>
            <a:r>
              <a:rPr lang="en-GB" dirty="0">
                <a:solidFill>
                  <a:schemeClr val="accent1"/>
                </a:solidFill>
              </a:rPr>
              <a:t> file </a:t>
            </a:r>
            <a:r>
              <a:rPr lang="en-GB" dirty="0"/>
              <a:t>is used) before analysis can start. Would have to be automated via separate scripts.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Need a better workflow.</a:t>
            </a:r>
          </a:p>
          <a:p>
            <a:pPr marL="800089" lvl="1" indent="-342900">
              <a:buFont typeface="Wingdings" pitchFamily="2" charset="2"/>
              <a:buChar char="ü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04EBF8-A582-2F45-87C2-AB44F5A1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18909"/>
          </a:xfrm>
        </p:spPr>
        <p:txBody>
          <a:bodyPr/>
          <a:lstStyle/>
          <a:p>
            <a:r>
              <a:rPr lang="en-GB" dirty="0"/>
              <a:t>A simple example: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4819C-5276-9E49-8027-603AD18E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C110648-863C-B74D-B42E-2C6ED461D2AA}"/>
              </a:ext>
            </a:extLst>
          </p:cNvPr>
          <p:cNvGrpSpPr/>
          <p:nvPr/>
        </p:nvGrpSpPr>
        <p:grpSpPr>
          <a:xfrm>
            <a:off x="256184" y="1081196"/>
            <a:ext cx="3001620" cy="4404622"/>
            <a:chOff x="526772" y="1071865"/>
            <a:chExt cx="3001620" cy="44046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A66F433-D455-484C-9AA7-46EDAF857CA7}"/>
                </a:ext>
              </a:extLst>
            </p:cNvPr>
            <p:cNvGrpSpPr/>
            <p:nvPr/>
          </p:nvGrpSpPr>
          <p:grpSpPr>
            <a:xfrm>
              <a:off x="526772" y="1441197"/>
              <a:ext cx="3001620" cy="4035290"/>
              <a:chOff x="467137" y="1411356"/>
              <a:chExt cx="3001620" cy="403529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FBEE916-CF9B-B94B-8370-F8B2F73F5EBA}"/>
                  </a:ext>
                </a:extLst>
              </p:cNvPr>
              <p:cNvSpPr/>
              <p:nvPr/>
            </p:nvSpPr>
            <p:spPr>
              <a:xfrm>
                <a:off x="467139" y="1411357"/>
                <a:ext cx="1500809" cy="66592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2A1FE9-CBA7-7E4B-BDFB-F33DB4AE73C0}"/>
                  </a:ext>
                </a:extLst>
              </p:cNvPr>
              <p:cNvSpPr/>
              <p:nvPr/>
            </p:nvSpPr>
            <p:spPr>
              <a:xfrm>
                <a:off x="1967948" y="1411357"/>
                <a:ext cx="901148" cy="210709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042B36-6E34-5540-87FC-CA32A540E752}"/>
                  </a:ext>
                </a:extLst>
              </p:cNvPr>
              <p:cNvSpPr/>
              <p:nvPr/>
            </p:nvSpPr>
            <p:spPr>
              <a:xfrm>
                <a:off x="467139" y="2077278"/>
                <a:ext cx="901148" cy="2107095"/>
              </a:xfrm>
              <a:prstGeom prst="rect">
                <a:avLst/>
              </a:prstGeom>
              <a:solidFill>
                <a:srgbClr val="00B0F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FA4A7EC-E35B-CA4F-8AFF-FDEC02DFF930}"/>
                  </a:ext>
                </a:extLst>
              </p:cNvPr>
              <p:cNvSpPr/>
              <p:nvPr/>
            </p:nvSpPr>
            <p:spPr>
              <a:xfrm rot="5400000">
                <a:off x="617882" y="4018798"/>
                <a:ext cx="901148" cy="1202635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6D7B27-86E7-1146-A179-4F6F982AF399}"/>
                  </a:ext>
                </a:extLst>
              </p:cNvPr>
              <p:cNvSpPr/>
              <p:nvPr/>
            </p:nvSpPr>
            <p:spPr>
              <a:xfrm rot="5400000" flipV="1">
                <a:off x="1156253" y="4031972"/>
                <a:ext cx="1928193" cy="90115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199667-C133-6E46-A1EF-6F5775B73672}"/>
                  </a:ext>
                </a:extLst>
              </p:cNvPr>
              <p:cNvSpPr/>
              <p:nvPr/>
            </p:nvSpPr>
            <p:spPr>
              <a:xfrm rot="5400000" flipV="1">
                <a:off x="2054085" y="4031972"/>
                <a:ext cx="1928193" cy="901151"/>
              </a:xfrm>
              <a:prstGeom prst="rect">
                <a:avLst/>
              </a:prstGeom>
              <a:solidFill>
                <a:srgbClr val="7030A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679C87A-17AE-C843-A0B1-B471AAF5B08A}"/>
                  </a:ext>
                </a:extLst>
              </p:cNvPr>
              <p:cNvSpPr/>
              <p:nvPr/>
            </p:nvSpPr>
            <p:spPr>
              <a:xfrm rot="5400000" flipV="1">
                <a:off x="880479" y="4657350"/>
                <a:ext cx="375954" cy="120263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F321E4E-347D-9E4B-A34A-EDC863E0A893}"/>
                  </a:ext>
                </a:extLst>
              </p:cNvPr>
              <p:cNvSpPr/>
              <p:nvPr/>
            </p:nvSpPr>
            <p:spPr>
              <a:xfrm rot="5400000" flipV="1">
                <a:off x="2113717" y="2163417"/>
                <a:ext cx="2107097" cy="602975"/>
              </a:xfrm>
              <a:prstGeom prst="rect">
                <a:avLst/>
              </a:prstGeom>
              <a:solidFill>
                <a:srgbClr val="E328EA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1558BEF-C95F-774B-822F-A1FDD41CB665}"/>
                  </a:ext>
                </a:extLst>
              </p:cNvPr>
              <p:cNvSpPr/>
              <p:nvPr/>
            </p:nvSpPr>
            <p:spPr>
              <a:xfrm rot="5400000" flipV="1">
                <a:off x="1187069" y="3697673"/>
                <a:ext cx="663924" cy="301481"/>
              </a:xfrm>
              <a:prstGeom prst="rect">
                <a:avLst/>
              </a:prstGeom>
              <a:solidFill>
                <a:srgbClr val="FF81A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D6BE6C0-56D3-1449-A67C-E73B6927E32E}"/>
                  </a:ext>
                </a:extLst>
              </p:cNvPr>
              <p:cNvSpPr/>
              <p:nvPr/>
            </p:nvSpPr>
            <p:spPr>
              <a:xfrm rot="5400000" flipV="1">
                <a:off x="952840" y="2499346"/>
                <a:ext cx="1437174" cy="593038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25EF6B-64D4-184D-80D2-27C8C00C731A}"/>
                </a:ext>
              </a:extLst>
            </p:cNvPr>
            <p:cNvSpPr txBox="1"/>
            <p:nvPr/>
          </p:nvSpPr>
          <p:spPr>
            <a:xfrm>
              <a:off x="526772" y="1071865"/>
              <a:ext cx="2954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An imaginary component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CD0BA21-6A7B-7D49-ACB5-06E18108AB17}"/>
                </a:ext>
              </a:extLst>
            </p:cNvPr>
            <p:cNvSpPr txBox="1"/>
            <p:nvPr/>
          </p:nvSpPr>
          <p:spPr>
            <a:xfrm>
              <a:off x="1062513" y="157542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DAF467-0213-9C46-A3CA-41DDFD506304}"/>
                </a:ext>
              </a:extLst>
            </p:cNvPr>
            <p:cNvSpPr txBox="1"/>
            <p:nvPr/>
          </p:nvSpPr>
          <p:spPr>
            <a:xfrm>
              <a:off x="2273249" y="1608554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4A1CE1-B819-A04A-9931-340CDE898D4A}"/>
                </a:ext>
              </a:extLst>
            </p:cNvPr>
            <p:cNvSpPr txBox="1"/>
            <p:nvPr/>
          </p:nvSpPr>
          <p:spPr>
            <a:xfrm>
              <a:off x="3082346" y="160855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B4C025-D2B9-6349-982C-6A46D1E3B149}"/>
                </a:ext>
              </a:extLst>
            </p:cNvPr>
            <p:cNvSpPr txBox="1"/>
            <p:nvPr/>
          </p:nvSpPr>
          <p:spPr>
            <a:xfrm>
              <a:off x="820895" y="25693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674A34D-B7BA-4B47-886D-9AC47622E21E}"/>
                </a:ext>
              </a:extLst>
            </p:cNvPr>
            <p:cNvSpPr txBox="1"/>
            <p:nvPr/>
          </p:nvSpPr>
          <p:spPr>
            <a:xfrm>
              <a:off x="1545048" y="251640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F4DA4E-DCAA-A047-8905-549F0C7ACFE3}"/>
                </a:ext>
              </a:extLst>
            </p:cNvPr>
            <p:cNvSpPr txBox="1"/>
            <p:nvPr/>
          </p:nvSpPr>
          <p:spPr>
            <a:xfrm>
              <a:off x="1416501" y="368817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892E4C-D352-F045-BAA9-359C26B7FEB0}"/>
                </a:ext>
              </a:extLst>
            </p:cNvPr>
            <p:cNvSpPr txBox="1"/>
            <p:nvPr/>
          </p:nvSpPr>
          <p:spPr>
            <a:xfrm>
              <a:off x="1975077" y="38721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7C9975-DAFF-F846-8CDD-C87B298E9CE3}"/>
                </a:ext>
              </a:extLst>
            </p:cNvPr>
            <p:cNvSpPr txBox="1"/>
            <p:nvPr/>
          </p:nvSpPr>
          <p:spPr>
            <a:xfrm>
              <a:off x="2923023" y="38721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82164E-99DB-C741-AB05-FB2A4948E229}"/>
                </a:ext>
              </a:extLst>
            </p:cNvPr>
            <p:cNvSpPr txBox="1"/>
            <p:nvPr/>
          </p:nvSpPr>
          <p:spPr>
            <a:xfrm>
              <a:off x="922119" y="44346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E4F88B-1A2D-E746-906C-693A9B778341}"/>
                </a:ext>
              </a:extLst>
            </p:cNvPr>
            <p:cNvSpPr txBox="1"/>
            <p:nvPr/>
          </p:nvSpPr>
          <p:spPr>
            <a:xfrm>
              <a:off x="960220" y="509790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0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E5290E-730A-6C48-9721-945784F46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0219" y="1108783"/>
            <a:ext cx="8021497" cy="5094472"/>
          </a:xfrm>
        </p:spPr>
        <p:txBody>
          <a:bodyPr/>
          <a:lstStyle/>
          <a:p>
            <a:r>
              <a:rPr lang="en-GB" dirty="0"/>
              <a:t>The API is a toolbox allowing users to develop their own scripts and workflows for straight forward activation analysis.</a:t>
            </a:r>
          </a:p>
          <a:p>
            <a:r>
              <a:rPr lang="en-GB" dirty="0">
                <a:solidFill>
                  <a:schemeClr val="accent1"/>
                </a:solidFill>
              </a:rPr>
              <a:t>How would this work for the imaginary component?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 single script can be produced which iterates through the cells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Sets up the required inputs.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preforms the activation calculation.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extracting the relevant data from the output.</a:t>
            </a:r>
          </a:p>
          <a:p>
            <a:pPr marL="800089" lvl="1" indent="-342900">
              <a:buFont typeface="Wingdings" pitchFamily="2" charset="2"/>
              <a:buChar char="Ø"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 user will still need to provide the flux and material from each cell. These can be read directly from the transport calculation output.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0C039D-0D70-5D4D-9950-774A6E9F9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18909"/>
          </a:xfrm>
        </p:spPr>
        <p:txBody>
          <a:bodyPr/>
          <a:lstStyle/>
          <a:p>
            <a:r>
              <a:rPr lang="en-GB" dirty="0"/>
              <a:t>FISPACT-II API: A better workflow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2E40E-9EBC-6B46-9E70-D1A559A4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62A1FC-44AC-F741-8737-B63B26488A0A}"/>
              </a:ext>
            </a:extLst>
          </p:cNvPr>
          <p:cNvGrpSpPr/>
          <p:nvPr/>
        </p:nvGrpSpPr>
        <p:grpSpPr>
          <a:xfrm>
            <a:off x="166868" y="1108783"/>
            <a:ext cx="3001620" cy="4404622"/>
            <a:chOff x="526772" y="1071865"/>
            <a:chExt cx="3001620" cy="440462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59EFEC1-766A-0647-AFAC-152FA3A3DA5B}"/>
                </a:ext>
              </a:extLst>
            </p:cNvPr>
            <p:cNvGrpSpPr/>
            <p:nvPr/>
          </p:nvGrpSpPr>
          <p:grpSpPr>
            <a:xfrm>
              <a:off x="526772" y="1441197"/>
              <a:ext cx="3001620" cy="4035290"/>
              <a:chOff x="467137" y="1411356"/>
              <a:chExt cx="3001620" cy="403529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AE09DF3-2561-BC46-A497-74DD9AAB0E09}"/>
                  </a:ext>
                </a:extLst>
              </p:cNvPr>
              <p:cNvSpPr/>
              <p:nvPr/>
            </p:nvSpPr>
            <p:spPr>
              <a:xfrm>
                <a:off x="467139" y="1411357"/>
                <a:ext cx="1500809" cy="66592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111C7D3-E408-9949-BAB2-B402D980D15D}"/>
                  </a:ext>
                </a:extLst>
              </p:cNvPr>
              <p:cNvSpPr/>
              <p:nvPr/>
            </p:nvSpPr>
            <p:spPr>
              <a:xfrm>
                <a:off x="1967948" y="1411357"/>
                <a:ext cx="901148" cy="210709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15E5883-1813-424C-AD47-3E14D3118477}"/>
                  </a:ext>
                </a:extLst>
              </p:cNvPr>
              <p:cNvSpPr/>
              <p:nvPr/>
            </p:nvSpPr>
            <p:spPr>
              <a:xfrm>
                <a:off x="467139" y="2077278"/>
                <a:ext cx="901148" cy="2107095"/>
              </a:xfrm>
              <a:prstGeom prst="rect">
                <a:avLst/>
              </a:prstGeom>
              <a:solidFill>
                <a:srgbClr val="00B0F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FF9C1FD-3626-4F47-ACEE-375895F2D108}"/>
                  </a:ext>
                </a:extLst>
              </p:cNvPr>
              <p:cNvSpPr/>
              <p:nvPr/>
            </p:nvSpPr>
            <p:spPr>
              <a:xfrm rot="5400000">
                <a:off x="617882" y="4018798"/>
                <a:ext cx="901148" cy="1202635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570879E-5FA2-FC45-B25E-488969747001}"/>
                  </a:ext>
                </a:extLst>
              </p:cNvPr>
              <p:cNvSpPr/>
              <p:nvPr/>
            </p:nvSpPr>
            <p:spPr>
              <a:xfrm rot="5400000" flipV="1">
                <a:off x="1156253" y="4031972"/>
                <a:ext cx="1928193" cy="90115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C9E0309-9EAD-DC4E-87E8-55F1BAA49A64}"/>
                  </a:ext>
                </a:extLst>
              </p:cNvPr>
              <p:cNvSpPr/>
              <p:nvPr/>
            </p:nvSpPr>
            <p:spPr>
              <a:xfrm rot="5400000" flipV="1">
                <a:off x="2054085" y="4031972"/>
                <a:ext cx="1928193" cy="901151"/>
              </a:xfrm>
              <a:prstGeom prst="rect">
                <a:avLst/>
              </a:prstGeom>
              <a:solidFill>
                <a:srgbClr val="7030A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843CD8C-22E3-AA40-805D-522667AA1E5A}"/>
                  </a:ext>
                </a:extLst>
              </p:cNvPr>
              <p:cNvSpPr/>
              <p:nvPr/>
            </p:nvSpPr>
            <p:spPr>
              <a:xfrm rot="5400000" flipV="1">
                <a:off x="880479" y="4657350"/>
                <a:ext cx="375954" cy="120263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C01AE83-84E2-BD42-94CB-9EB5A8A4E86D}"/>
                  </a:ext>
                </a:extLst>
              </p:cNvPr>
              <p:cNvSpPr/>
              <p:nvPr/>
            </p:nvSpPr>
            <p:spPr>
              <a:xfrm rot="5400000" flipV="1">
                <a:off x="2113717" y="2163417"/>
                <a:ext cx="2107097" cy="602975"/>
              </a:xfrm>
              <a:prstGeom prst="rect">
                <a:avLst/>
              </a:prstGeom>
              <a:solidFill>
                <a:srgbClr val="E328EA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65185D6-6190-0F4D-B3DC-D44E7C6556B5}"/>
                  </a:ext>
                </a:extLst>
              </p:cNvPr>
              <p:cNvSpPr/>
              <p:nvPr/>
            </p:nvSpPr>
            <p:spPr>
              <a:xfrm rot="5400000" flipV="1">
                <a:off x="1187069" y="3697673"/>
                <a:ext cx="663924" cy="301481"/>
              </a:xfrm>
              <a:prstGeom prst="rect">
                <a:avLst/>
              </a:prstGeom>
              <a:solidFill>
                <a:srgbClr val="FF81A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6C9143F-25E2-5644-AB45-32456492A885}"/>
                  </a:ext>
                </a:extLst>
              </p:cNvPr>
              <p:cNvSpPr/>
              <p:nvPr/>
            </p:nvSpPr>
            <p:spPr>
              <a:xfrm rot="5400000" flipV="1">
                <a:off x="952840" y="2499346"/>
                <a:ext cx="1437174" cy="593038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873D14-53ED-3E4A-A646-2969D781A25F}"/>
                </a:ext>
              </a:extLst>
            </p:cNvPr>
            <p:cNvSpPr txBox="1"/>
            <p:nvPr/>
          </p:nvSpPr>
          <p:spPr>
            <a:xfrm>
              <a:off x="526772" y="1071865"/>
              <a:ext cx="2954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An imaginary component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B015B8-FB79-4D47-9613-0A92B709CB44}"/>
                </a:ext>
              </a:extLst>
            </p:cNvPr>
            <p:cNvSpPr txBox="1"/>
            <p:nvPr/>
          </p:nvSpPr>
          <p:spPr>
            <a:xfrm>
              <a:off x="1062513" y="157542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768AC2-96FA-2549-AA5E-2BDC7F25CDDC}"/>
                </a:ext>
              </a:extLst>
            </p:cNvPr>
            <p:cNvSpPr txBox="1"/>
            <p:nvPr/>
          </p:nvSpPr>
          <p:spPr>
            <a:xfrm>
              <a:off x="2273249" y="1608554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1B43CD-8F30-0948-9435-BBF7035765A1}"/>
                </a:ext>
              </a:extLst>
            </p:cNvPr>
            <p:cNvSpPr txBox="1"/>
            <p:nvPr/>
          </p:nvSpPr>
          <p:spPr>
            <a:xfrm>
              <a:off x="3082346" y="160855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B395CE-52BF-964C-A8E6-72EBE443235A}"/>
                </a:ext>
              </a:extLst>
            </p:cNvPr>
            <p:cNvSpPr txBox="1"/>
            <p:nvPr/>
          </p:nvSpPr>
          <p:spPr>
            <a:xfrm>
              <a:off x="820895" y="25693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65AA55-765C-4B48-96F2-8B2B2603BF1C}"/>
                </a:ext>
              </a:extLst>
            </p:cNvPr>
            <p:cNvSpPr txBox="1"/>
            <p:nvPr/>
          </p:nvSpPr>
          <p:spPr>
            <a:xfrm>
              <a:off x="1545048" y="251640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D5E1D0-0258-6746-9A9B-82D1B1BBF5EE}"/>
                </a:ext>
              </a:extLst>
            </p:cNvPr>
            <p:cNvSpPr txBox="1"/>
            <p:nvPr/>
          </p:nvSpPr>
          <p:spPr>
            <a:xfrm>
              <a:off x="1416501" y="368817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DF5F9E-117B-0C4A-9D56-CFF322288671}"/>
                </a:ext>
              </a:extLst>
            </p:cNvPr>
            <p:cNvSpPr txBox="1"/>
            <p:nvPr/>
          </p:nvSpPr>
          <p:spPr>
            <a:xfrm>
              <a:off x="1975077" y="38721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659138-5D06-7648-87D0-73880E7B8721}"/>
                </a:ext>
              </a:extLst>
            </p:cNvPr>
            <p:cNvSpPr txBox="1"/>
            <p:nvPr/>
          </p:nvSpPr>
          <p:spPr>
            <a:xfrm>
              <a:off x="2923023" y="38721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FFEC63-9100-1D48-81F4-9EE7F5736379}"/>
                </a:ext>
              </a:extLst>
            </p:cNvPr>
            <p:cNvSpPr txBox="1"/>
            <p:nvPr/>
          </p:nvSpPr>
          <p:spPr>
            <a:xfrm>
              <a:off x="922119" y="44346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7C3886-BC98-924E-BBDB-8ED26DD142FF}"/>
                </a:ext>
              </a:extLst>
            </p:cNvPr>
            <p:cNvSpPr txBox="1"/>
            <p:nvPr/>
          </p:nvSpPr>
          <p:spPr>
            <a:xfrm>
              <a:off x="960220" y="509790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209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30D461-BC83-1B44-856E-B8323F05A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8" y="970384"/>
            <a:ext cx="11398214" cy="5274552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is the same for all calculations: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Nuclear data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Irradiation schedule </a:t>
            </a:r>
            <a:r>
              <a:rPr lang="en-GB" dirty="0"/>
              <a:t>(assuming all cells experience the same irradiation)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Lets assume: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The component that we are studying experiences </a:t>
            </a:r>
            <a:r>
              <a:rPr lang="en-GB" dirty="0">
                <a:solidFill>
                  <a:schemeClr val="accent1"/>
                </a:solidFill>
              </a:rPr>
              <a:t>2 years of irradiation</a:t>
            </a:r>
            <a:r>
              <a:rPr lang="en-GB" dirty="0"/>
              <a:t>, with </a:t>
            </a:r>
            <a:r>
              <a:rPr lang="en-GB" dirty="0">
                <a:solidFill>
                  <a:schemeClr val="accent1"/>
                </a:solidFill>
              </a:rPr>
              <a:t>100 years of cooling</a:t>
            </a:r>
            <a:r>
              <a:rPr lang="en-GB" dirty="0"/>
              <a:t>. 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Each cell experiences a different flux spectrum, but all cells experience </a:t>
            </a:r>
            <a:r>
              <a:rPr lang="en-GB" dirty="0">
                <a:solidFill>
                  <a:schemeClr val="accent1"/>
                </a:solidFill>
              </a:rPr>
              <a:t>1⨉10</a:t>
            </a:r>
            <a:r>
              <a:rPr lang="en-GB" baseline="30000" dirty="0">
                <a:solidFill>
                  <a:schemeClr val="accent1"/>
                </a:solidFill>
              </a:rPr>
              <a:t>12</a:t>
            </a:r>
            <a:r>
              <a:rPr lang="en-GB" dirty="0">
                <a:solidFill>
                  <a:schemeClr val="accent1"/>
                </a:solidFill>
              </a:rPr>
              <a:t> n/cm</a:t>
            </a:r>
            <a:r>
              <a:rPr lang="en-GB" baseline="30000" dirty="0">
                <a:solidFill>
                  <a:schemeClr val="accent1"/>
                </a:solidFill>
              </a:rPr>
              <a:t>2</a:t>
            </a:r>
            <a:r>
              <a:rPr lang="en-GB" dirty="0">
                <a:solidFill>
                  <a:schemeClr val="accent1"/>
                </a:solidFill>
              </a:rPr>
              <a:t>/s</a:t>
            </a:r>
            <a:r>
              <a:rPr lang="en-GB" dirty="0"/>
              <a:t>.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Of interest is the components </a:t>
            </a:r>
            <a:r>
              <a:rPr lang="en-GB" dirty="0">
                <a:solidFill>
                  <a:schemeClr val="accent1"/>
                </a:solidFill>
              </a:rPr>
              <a:t>total decay heating </a:t>
            </a:r>
            <a:r>
              <a:rPr lang="en-GB" dirty="0"/>
              <a:t>(in kW kg</a:t>
            </a:r>
            <a:r>
              <a:rPr lang="en-GB" baseline="30000" dirty="0"/>
              <a:t>-1</a:t>
            </a:r>
            <a:r>
              <a:rPr lang="en-GB" dirty="0"/>
              <a:t>) for 10 years after irradiation and each cells </a:t>
            </a:r>
            <a:r>
              <a:rPr lang="en-GB" baseline="30000" dirty="0">
                <a:solidFill>
                  <a:schemeClr val="accent1"/>
                </a:solidFill>
              </a:rPr>
              <a:t>60</a:t>
            </a:r>
            <a:r>
              <a:rPr lang="en-GB" dirty="0">
                <a:solidFill>
                  <a:schemeClr val="accent1"/>
                </a:solidFill>
              </a:rPr>
              <a:t>Co activity </a:t>
            </a:r>
            <a:r>
              <a:rPr lang="en-GB" dirty="0"/>
              <a:t>(in </a:t>
            </a:r>
            <a:r>
              <a:rPr lang="en-GB" dirty="0" err="1"/>
              <a:t>Bq</a:t>
            </a:r>
            <a:r>
              <a:rPr lang="en-GB" dirty="0"/>
              <a:t> kg</a:t>
            </a:r>
            <a:r>
              <a:rPr lang="en-GB" baseline="30000" dirty="0"/>
              <a:t>-1</a:t>
            </a:r>
            <a:r>
              <a:rPr lang="en-GB" dirty="0"/>
              <a:t>) during and after irradiation.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For the example the script requires: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flux and material getters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A nuclear data loader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A schedule setter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A heating extraction methods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dirty="0"/>
              <a:t>A </a:t>
            </a:r>
            <a:r>
              <a:rPr lang="en-GB" baseline="30000" dirty="0"/>
              <a:t>60</a:t>
            </a:r>
            <a:r>
              <a:rPr lang="en-GB" dirty="0"/>
              <a:t>Co activity extract method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56326-CE57-F941-AD1D-B17FD8EA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64954"/>
          </a:xfrm>
        </p:spPr>
        <p:txBody>
          <a:bodyPr>
            <a:normAutofit/>
          </a:bodyPr>
          <a:lstStyle/>
          <a:p>
            <a:r>
              <a:rPr lang="en-GB" dirty="0"/>
              <a:t>Building an API script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EE1FD-871B-E44C-A408-1C4E4852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9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526524-2989-2844-B288-B3AC2A9B3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1119587"/>
            <a:ext cx="7689273" cy="73696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Initialise the Monitor (</a:t>
            </a:r>
            <a:r>
              <a:rPr lang="en-GB" dirty="0">
                <a:solidFill>
                  <a:schemeClr val="accent1"/>
                </a:solidFill>
              </a:rPr>
              <a:t>error handling</a:t>
            </a:r>
            <a:r>
              <a:rPr lang="en-GB" dirty="0"/>
              <a:t>) and FISPACT global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7AEE42-6987-B34A-A217-AB72300A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36962"/>
          </a:xfrm>
        </p:spPr>
        <p:txBody>
          <a:bodyPr/>
          <a:lstStyle/>
          <a:p>
            <a:r>
              <a:rPr lang="en-GB" dirty="0"/>
              <a:t>Initialisation and nuclear data loading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941AF-5FC2-CE4E-9D0C-C854C61D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FDBD6F3-3839-BF4D-B449-D279C0ED0C1E}"/>
              </a:ext>
            </a:extLst>
          </p:cNvPr>
          <p:cNvSpPr txBox="1">
            <a:spLocks/>
          </p:cNvSpPr>
          <p:nvPr/>
        </p:nvSpPr>
        <p:spPr>
          <a:xfrm>
            <a:off x="-1" y="2311989"/>
            <a:ext cx="11840902" cy="473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200" kern="120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Load nuclear data function, assume this hypothetical project requires TENDL2017</a:t>
            </a:r>
          </a:p>
        </p:txBody>
      </p:sp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D5280BA-3C47-8C4E-84CA-D0DEB2981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478" y="1073193"/>
            <a:ext cx="2362243" cy="104009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49646D-AAC8-EA47-807A-6F324B16491C}"/>
              </a:ext>
            </a:extLst>
          </p:cNvPr>
          <p:cNvSpPr txBox="1"/>
          <p:nvPr/>
        </p:nvSpPr>
        <p:spPr>
          <a:xfrm>
            <a:off x="7159338" y="3128679"/>
            <a:ext cx="490450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Here base Nuclear Data directory path (</a:t>
            </a:r>
            <a:r>
              <a:rPr lang="en-GB" sz="2000" dirty="0" err="1">
                <a:solidFill>
                  <a:schemeClr val="accent1"/>
                </a:solidFill>
              </a:rPr>
              <a:t>ndpath</a:t>
            </a:r>
            <a:r>
              <a:rPr lang="en-GB" sz="2000" dirty="0"/>
              <a:t>) is read into the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It is the appended to to point to the correct files/folders.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 </a:t>
            </a:r>
            <a:r>
              <a:rPr lang="en-GB" sz="2000" dirty="0" err="1">
                <a:solidFill>
                  <a:schemeClr val="accent1"/>
                </a:solidFill>
              </a:rPr>
              <a:t>callback</a:t>
            </a:r>
            <a:r>
              <a:rPr lang="en-GB" sz="2000" dirty="0">
                <a:solidFill>
                  <a:schemeClr val="accent1"/>
                </a:solidFill>
              </a:rPr>
              <a:t> function </a:t>
            </a:r>
            <a:r>
              <a:rPr lang="en-GB" sz="2000" dirty="0"/>
              <a:t>called to provide progress information to the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This is the same as that used in the nuclear data example.</a:t>
            </a:r>
          </a:p>
          <a:p>
            <a:r>
              <a:rPr lang="en-GB" dirty="0"/>
              <a:t> </a:t>
            </a:r>
          </a:p>
        </p:txBody>
      </p:sp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A4195EC-FE92-B546-883B-47FF37C61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12" y="2908052"/>
            <a:ext cx="6642527" cy="326590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7103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8900D6-F59C-D643-B6A6-1E0380AA2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9027" y="4419667"/>
            <a:ext cx="3203492" cy="1181033"/>
          </a:xfrm>
          <a:ln w="25400">
            <a:solidFill>
              <a:srgbClr val="00B0F0"/>
            </a:solidFill>
          </a:ln>
        </p:spPr>
        <p:txBody>
          <a:bodyPr/>
          <a:lstStyle/>
          <a:p>
            <a:r>
              <a:rPr lang="en-GB" dirty="0"/>
              <a:t>The Irradiation schedule is eth same for all cells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3A5E1D-60FB-4A45-B47A-54D9C608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54482"/>
            <a:ext cx="10018853" cy="708970"/>
          </a:xfrm>
        </p:spPr>
        <p:txBody>
          <a:bodyPr/>
          <a:lstStyle/>
          <a:p>
            <a:r>
              <a:rPr lang="en-GB" dirty="0"/>
              <a:t>Setting the </a:t>
            </a:r>
            <a:r>
              <a:rPr lang="en-GB" dirty="0" err="1"/>
              <a:t>InputData</a:t>
            </a:r>
            <a:r>
              <a:rPr lang="en-GB" dirty="0"/>
              <a:t> from cells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7FE88-F5FB-C94D-8927-E89855E6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10B2C085-4C44-8E44-A475-46D0BA6F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63" y="654254"/>
            <a:ext cx="3988593" cy="6203746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1CE643-CB8F-054B-A470-EA54F2A60AD4}"/>
              </a:ext>
            </a:extLst>
          </p:cNvPr>
          <p:cNvSpPr/>
          <p:nvPr/>
        </p:nvSpPr>
        <p:spPr>
          <a:xfrm>
            <a:off x="4572000" y="3138055"/>
            <a:ext cx="3782291" cy="353290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26BCC5-8948-5C41-BC9E-D61A55116423}"/>
              </a:ext>
            </a:extLst>
          </p:cNvPr>
          <p:cNvCxnSpPr>
            <a:stCxn id="2" idx="3"/>
          </p:cNvCxnSpPr>
          <p:nvPr/>
        </p:nvCxnSpPr>
        <p:spPr>
          <a:xfrm flipV="1">
            <a:off x="3522519" y="4904509"/>
            <a:ext cx="1049481" cy="105675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E2D8A8-C016-CD43-AD47-2E769B5411C3}"/>
              </a:ext>
            </a:extLst>
          </p:cNvPr>
          <p:cNvSpPr txBox="1"/>
          <p:nvPr/>
        </p:nvSpPr>
        <p:spPr>
          <a:xfrm>
            <a:off x="8581546" y="1559281"/>
            <a:ext cx="3077814" cy="4524315"/>
          </a:xfrm>
          <a:prstGeom prst="rect">
            <a:avLst/>
          </a:prstGeom>
          <a:noFill/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Setting the extracted flux and material composition.</a:t>
            </a:r>
          </a:p>
          <a:p>
            <a:endParaRPr lang="en-GB" sz="2400" dirty="0"/>
          </a:p>
          <a:p>
            <a:r>
              <a:rPr lang="en-GB" sz="2400" dirty="0"/>
              <a:t>Note that the </a:t>
            </a:r>
            <a:r>
              <a:rPr lang="en-GB" sz="2400" b="1" dirty="0" err="1"/>
              <a:t>setmass</a:t>
            </a:r>
            <a:r>
              <a:rPr lang="en-GB" sz="2400" dirty="0"/>
              <a:t> methods of the </a:t>
            </a:r>
            <a:r>
              <a:rPr lang="en-GB" sz="2400" b="1" dirty="0" err="1"/>
              <a:t>InputData</a:t>
            </a:r>
            <a:r>
              <a:rPr lang="en-GB" sz="2400" b="1" dirty="0"/>
              <a:t> </a:t>
            </a:r>
            <a:r>
              <a:rPr lang="en-GB" sz="2400" dirty="0"/>
              <a:t>class take atomic numbers not element strings.</a:t>
            </a:r>
          </a:p>
          <a:p>
            <a:endParaRPr lang="en-GB" sz="2400" dirty="0"/>
          </a:p>
          <a:p>
            <a:r>
              <a:rPr lang="en-GB" sz="2400" dirty="0"/>
              <a:t>Methods to convert are included.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C5E2BC-09CC-7E48-832C-9A2222C946C0}"/>
              </a:ext>
            </a:extLst>
          </p:cNvPr>
          <p:cNvSpPr/>
          <p:nvPr/>
        </p:nvSpPr>
        <p:spPr>
          <a:xfrm>
            <a:off x="4572000" y="1454727"/>
            <a:ext cx="3148445" cy="1600200"/>
          </a:xfrm>
          <a:prstGeom prst="rect">
            <a:avLst/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CAB430-476F-2742-A4AB-8C2E03DA6B54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0445" y="2254827"/>
            <a:ext cx="861101" cy="1566612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F803E33-994B-EE44-9E90-45F5F0B29CC9}"/>
              </a:ext>
            </a:extLst>
          </p:cNvPr>
          <p:cNvSpPr txBox="1"/>
          <p:nvPr/>
        </p:nvSpPr>
        <p:spPr>
          <a:xfrm>
            <a:off x="179516" y="990252"/>
            <a:ext cx="3482513" cy="2585323"/>
          </a:xfrm>
          <a:prstGeom prst="rect">
            <a:avLst/>
          </a:prstGeom>
          <a:noFill/>
          <a:ln w="25400">
            <a:solidFill>
              <a:srgbClr val="E328EA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Read the flux and material information form external source. This could be a transport code output file</a:t>
            </a:r>
          </a:p>
          <a:p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0F27C4-B708-E442-B361-660CD59443CB}"/>
              </a:ext>
            </a:extLst>
          </p:cNvPr>
          <p:cNvSpPr/>
          <p:nvPr/>
        </p:nvSpPr>
        <p:spPr>
          <a:xfrm>
            <a:off x="4572000" y="1153390"/>
            <a:ext cx="3313042" cy="243343"/>
          </a:xfrm>
          <a:prstGeom prst="rect">
            <a:avLst/>
          </a:prstGeom>
          <a:noFill/>
          <a:ln w="28575">
            <a:solidFill>
              <a:srgbClr val="E328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D0C04-AF4E-944D-8332-A026CFD82ED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658343" y="1275062"/>
            <a:ext cx="913657" cy="881790"/>
          </a:xfrm>
          <a:prstGeom prst="line">
            <a:avLst/>
          </a:prstGeom>
          <a:ln w="44450">
            <a:solidFill>
              <a:srgbClr val="E328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5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D643A7-50E9-904A-8A5F-4F49AA8C0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845194"/>
            <a:ext cx="7008821" cy="1129079"/>
          </a:xfrm>
        </p:spPr>
        <p:txBody>
          <a:bodyPr/>
          <a:lstStyle/>
          <a:p>
            <a:r>
              <a:rPr lang="en-GB" dirty="0"/>
              <a:t>Once a cell calculation has completed the produce </a:t>
            </a:r>
            <a:r>
              <a:rPr lang="en-GB" b="1" dirty="0" err="1"/>
              <a:t>OutputData</a:t>
            </a:r>
            <a:r>
              <a:rPr lang="en-GB" dirty="0"/>
              <a:t> need to be probed. The desired data can then be extracted.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772D67-E9D9-7543-969E-00959DCD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171450" cy="867590"/>
          </a:xfrm>
        </p:spPr>
        <p:txBody>
          <a:bodyPr>
            <a:normAutofit fontScale="90000"/>
          </a:bodyPr>
          <a:lstStyle/>
          <a:p>
            <a:r>
              <a:rPr lang="en-GB" dirty="0"/>
              <a:t>Building </a:t>
            </a:r>
            <a:r>
              <a:rPr lang="en-GB" dirty="0" err="1"/>
              <a:t>OutputData</a:t>
            </a:r>
            <a:r>
              <a:rPr lang="en-GB" dirty="0"/>
              <a:t> tools and storing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94C11-7DE5-AC48-BD0B-C8EF5340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DCF879C-2814-2145-8AE5-D665FA57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7" y="1919609"/>
            <a:ext cx="5660773" cy="442652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7D8CC-64F7-3D4C-84B9-420CC8C2C0F3}"/>
              </a:ext>
            </a:extLst>
          </p:cNvPr>
          <p:cNvSpPr txBox="1"/>
          <p:nvPr/>
        </p:nvSpPr>
        <p:spPr>
          <a:xfrm>
            <a:off x="3688773" y="2356403"/>
            <a:ext cx="2036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Extract decay heating at cooling times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6B5F98-D302-0246-A038-AC25F232D81F}"/>
              </a:ext>
            </a:extLst>
          </p:cNvPr>
          <p:cNvCxnSpPr>
            <a:cxnSpLocks/>
          </p:cNvCxnSpPr>
          <p:nvPr/>
        </p:nvCxnSpPr>
        <p:spPr>
          <a:xfrm flipH="1">
            <a:off x="4592783" y="3976443"/>
            <a:ext cx="1132608" cy="49277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90607C-6941-4E42-B85C-73D98E9AEB9F}"/>
              </a:ext>
            </a:extLst>
          </p:cNvPr>
          <p:cNvCxnSpPr>
            <a:cxnSpLocks/>
          </p:cNvCxnSpPr>
          <p:nvPr/>
        </p:nvCxnSpPr>
        <p:spPr>
          <a:xfrm>
            <a:off x="5197774" y="3014710"/>
            <a:ext cx="527617" cy="961733"/>
          </a:xfrm>
          <a:prstGeom prst="straightConnector1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F5B8181-0A4B-B043-A686-C916405D885A}"/>
              </a:ext>
            </a:extLst>
          </p:cNvPr>
          <p:cNvSpPr txBox="1"/>
          <p:nvPr/>
        </p:nvSpPr>
        <p:spPr>
          <a:xfrm>
            <a:off x="4380631" y="5048876"/>
            <a:ext cx="1457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Extract </a:t>
            </a:r>
            <a:r>
              <a:rPr lang="en-GB" baseline="30000" dirty="0">
                <a:solidFill>
                  <a:schemeClr val="bg1"/>
                </a:solidFill>
              </a:rPr>
              <a:t>60</a:t>
            </a:r>
            <a:r>
              <a:rPr lang="en-GB" dirty="0">
                <a:solidFill>
                  <a:schemeClr val="bg1"/>
                </a:solidFill>
              </a:rPr>
              <a:t>Co activity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7F214B-890C-1442-BE4F-88506F4DF09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2997254" y="5372042"/>
            <a:ext cx="1383377" cy="11440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6B9B3AD-37DB-A245-93E8-988EDA760F96}"/>
              </a:ext>
            </a:extLst>
          </p:cNvPr>
          <p:cNvSpPr txBox="1"/>
          <p:nvPr/>
        </p:nvSpPr>
        <p:spPr>
          <a:xfrm>
            <a:off x="5998480" y="1919609"/>
            <a:ext cx="6091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Complete inventory contents can be output in a </a:t>
            </a:r>
            <a:r>
              <a:rPr lang="en-GB" sz="2400" dirty="0">
                <a:solidFill>
                  <a:schemeClr val="accent1"/>
                </a:solidFill>
              </a:rPr>
              <a:t>JSON</a:t>
            </a:r>
            <a:r>
              <a:rPr lang="en-GB" sz="2400" dirty="0"/>
              <a:t> format.</a:t>
            </a:r>
          </a:p>
          <a:p>
            <a:endParaRPr lang="en-GB" sz="2400" dirty="0"/>
          </a:p>
          <a:p>
            <a:r>
              <a:rPr lang="en-GB" sz="2400" dirty="0"/>
              <a:t>A FISPACT log file can be output as well.</a:t>
            </a:r>
          </a:p>
          <a:p>
            <a:endParaRPr lang="en-GB" sz="2400" dirty="0"/>
          </a:p>
          <a:p>
            <a:r>
              <a:rPr lang="en-GB" sz="2400" dirty="0"/>
              <a:t>Specific information can be printed using standard file writing methods </a:t>
            </a:r>
          </a:p>
        </p:txBody>
      </p:sp>
      <p:pic>
        <p:nvPicPr>
          <p:cNvPr id="25" name="Picture 24" descr="Text&#10;&#10;Description automatically generated">
            <a:extLst>
              <a:ext uri="{FF2B5EF4-FFF2-40B4-BE49-F238E27FC236}">
                <a16:creationId xmlns:a16="http://schemas.microsoft.com/office/drawing/2014/main" id="{164D2DF1-69B6-5B4C-A72E-C1B40F7C4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80" y="4584319"/>
            <a:ext cx="6091921" cy="92911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37437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379D45-8B87-004F-9B2E-7C15470DD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7" y="882134"/>
            <a:ext cx="6337841" cy="829862"/>
          </a:xfrm>
        </p:spPr>
        <p:txBody>
          <a:bodyPr/>
          <a:lstStyle/>
          <a:p>
            <a:r>
              <a:rPr lang="en-GB" dirty="0"/>
              <a:t>The routines are simply called in sequence using existing loop structures.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39F4D0-0AEA-BC48-A60E-C8A56441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for all cells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9B5E0-93DE-EF42-ABDD-C707F583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F303C-4472-4747-9B96-58D5A470BE4F}"/>
              </a:ext>
            </a:extLst>
          </p:cNvPr>
          <p:cNvSpPr txBox="1"/>
          <p:nvPr/>
        </p:nvSpPr>
        <p:spPr>
          <a:xfrm>
            <a:off x="1266643" y="5445152"/>
            <a:ext cx="7510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Let look at the script in detail and generate some data</a:t>
            </a:r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BDEE5F0C-23DE-9B46-A941-7AA7E9D3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8" y="1679017"/>
            <a:ext cx="6781800" cy="34163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A2D947-58AE-A54D-8A9A-6B23A5DCCEF1}"/>
              </a:ext>
            </a:extLst>
          </p:cNvPr>
          <p:cNvSpPr txBox="1"/>
          <p:nvPr/>
        </p:nvSpPr>
        <p:spPr>
          <a:xfrm>
            <a:off x="7356763" y="1992519"/>
            <a:ext cx="1659429" cy="369332"/>
          </a:xfrm>
          <a:prstGeom prst="rect">
            <a:avLst/>
          </a:prstGeom>
          <a:noFill/>
          <a:ln w="25400">
            <a:solidFill>
              <a:srgbClr val="E328EA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Set </a:t>
            </a:r>
            <a:r>
              <a:rPr lang="en-GB" b="1" dirty="0" err="1"/>
              <a:t>InputData</a:t>
            </a:r>
            <a:endParaRPr lang="en-GB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718B3E-7B17-9A4A-81B0-4FBDDA9B0F91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969327" y="2177185"/>
            <a:ext cx="3387436" cy="502609"/>
          </a:xfrm>
          <a:prstGeom prst="straightConnector1">
            <a:avLst/>
          </a:prstGeom>
          <a:ln w="28575">
            <a:solidFill>
              <a:srgbClr val="E328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7C2835-D34A-804B-85DC-00BA97150FEC}"/>
              </a:ext>
            </a:extLst>
          </p:cNvPr>
          <p:cNvSpPr txBox="1"/>
          <p:nvPr/>
        </p:nvSpPr>
        <p:spPr>
          <a:xfrm>
            <a:off x="7356762" y="2860019"/>
            <a:ext cx="3591624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Run FISPACT-II, get </a:t>
            </a:r>
            <a:r>
              <a:rPr lang="en-GB" b="1" dirty="0" err="1"/>
              <a:t>OutputData</a:t>
            </a:r>
            <a:endParaRPr lang="en-GB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D07857-0B7D-B347-9481-6DA94D01CBF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2686914" y="3044685"/>
            <a:ext cx="4669848" cy="10879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7CCF2CA-0E98-304A-958E-74923FF088F4}"/>
              </a:ext>
            </a:extLst>
          </p:cNvPr>
          <p:cNvSpPr txBox="1"/>
          <p:nvPr/>
        </p:nvSpPr>
        <p:spPr>
          <a:xfrm>
            <a:off x="7848371" y="3678035"/>
            <a:ext cx="2608406" cy="36933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Extract relevant 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1798A4-3F6A-3344-8D23-9E037DACC41C}"/>
              </a:ext>
            </a:extLst>
          </p:cNvPr>
          <p:cNvCxnSpPr>
            <a:cxnSpLocks/>
          </p:cNvCxnSpPr>
          <p:nvPr/>
        </p:nvCxnSpPr>
        <p:spPr>
          <a:xfrm flipH="1" flipV="1">
            <a:off x="6868391" y="3667691"/>
            <a:ext cx="979980" cy="2084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3A923EA-6479-ED46-90D8-4C378CD10F60}"/>
              </a:ext>
            </a:extLst>
          </p:cNvPr>
          <p:cNvSpPr txBox="1"/>
          <p:nvPr/>
        </p:nvSpPr>
        <p:spPr>
          <a:xfrm>
            <a:off x="7641240" y="4499505"/>
            <a:ext cx="36215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Reset data object for next cell run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989609-5C28-B44A-B410-07FCCD03D90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1569027" y="4684171"/>
            <a:ext cx="6072213" cy="184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AF071B-FEDB-1B4C-8D44-9AD01163C0FD}"/>
              </a:ext>
            </a:extLst>
          </p:cNvPr>
          <p:cNvSpPr txBox="1"/>
          <p:nvPr/>
        </p:nvSpPr>
        <p:spPr>
          <a:xfrm>
            <a:off x="7182581" y="916458"/>
            <a:ext cx="4538822" cy="65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Nuclear data is </a:t>
            </a:r>
            <a:r>
              <a:rPr lang="en-GB" b="1" dirty="0">
                <a:solidFill>
                  <a:schemeClr val="accent1"/>
                </a:solidFill>
              </a:rPr>
              <a:t>not</a:t>
            </a:r>
            <a:r>
              <a:rPr lang="en-GB" dirty="0">
                <a:solidFill>
                  <a:schemeClr val="accent1"/>
                </a:solidFill>
              </a:rPr>
              <a:t> loaded every time, so its not in loop</a:t>
            </a:r>
          </a:p>
        </p:txBody>
      </p:sp>
    </p:spTree>
    <p:extLst>
      <p:ext uri="{BB962C8B-B14F-4D97-AF65-F5344CB8AC3E}">
        <p14:creationId xmlns:p14="http://schemas.microsoft.com/office/powerpoint/2010/main" val="412373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8D7EDE-57A4-F84F-BB25-2D494DDB1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904829"/>
            <a:ext cx="11465690" cy="830268"/>
          </a:xfrm>
        </p:spPr>
        <p:txBody>
          <a:bodyPr/>
          <a:lstStyle/>
          <a:p>
            <a:r>
              <a:rPr lang="en-GB" dirty="0"/>
              <a:t>These results are simple but demonstrate that preforming complete activation analysis can be straight forward with the FISPACT-API.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A91B52-BBDB-2749-9740-583B3D6E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830268"/>
          </a:xfrm>
        </p:spPr>
        <p:txBody>
          <a:bodyPr/>
          <a:lstStyle/>
          <a:p>
            <a:r>
              <a:rPr lang="en-GB" dirty="0"/>
              <a:t>Results for the imaginary component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9AC40-16EF-3E4A-B43F-1342F6BA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A7DC71C2-DC84-2E49-ADF6-FD3419970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669955"/>
            <a:ext cx="5842000" cy="4381500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773172D4-F5BD-F047-80B5-213DFDF41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079" y="1669955"/>
            <a:ext cx="5842000" cy="4381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69D706-F705-DC42-BF6E-9ACE10B04FF7}"/>
              </a:ext>
            </a:extLst>
          </p:cNvPr>
          <p:cNvSpPr txBox="1"/>
          <p:nvPr/>
        </p:nvSpPr>
        <p:spPr>
          <a:xfrm>
            <a:off x="1858065" y="3583705"/>
            <a:ext cx="2633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Could add heating from each cell to study contributions across component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8DE2E-497B-5242-B979-73EDDC9826FE}"/>
              </a:ext>
            </a:extLst>
          </p:cNvPr>
          <p:cNvSpPr txBox="1"/>
          <p:nvPr/>
        </p:nvSpPr>
        <p:spPr>
          <a:xfrm>
            <a:off x="7752697" y="4460869"/>
            <a:ext cx="2157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Some cells do not produce any </a:t>
            </a:r>
            <a:r>
              <a:rPr lang="en-GB" baseline="30000" dirty="0">
                <a:solidFill>
                  <a:schemeClr val="accent1"/>
                </a:solidFill>
              </a:rPr>
              <a:t>60</a:t>
            </a:r>
            <a:r>
              <a:rPr lang="en-GB" dirty="0">
                <a:solidFill>
                  <a:schemeClr val="accent1"/>
                </a:solidFill>
              </a:rPr>
              <a:t>Co.</a:t>
            </a:r>
          </a:p>
        </p:txBody>
      </p:sp>
    </p:spTree>
    <p:extLst>
      <p:ext uri="{BB962C8B-B14F-4D97-AF65-F5344CB8AC3E}">
        <p14:creationId xmlns:p14="http://schemas.microsoft.com/office/powerpoint/2010/main" val="76589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FE">
      <a:dk1>
        <a:srgbClr val="002F56"/>
      </a:dk1>
      <a:lt1>
        <a:srgbClr val="FFFFFF"/>
      </a:lt1>
      <a:dk2>
        <a:srgbClr val="000000"/>
      </a:dk2>
      <a:lt2>
        <a:srgbClr val="D1D2D3"/>
      </a:lt2>
      <a:accent1>
        <a:srgbClr val="F8971D"/>
      </a:accent1>
      <a:accent2>
        <a:srgbClr val="F6D34D"/>
      </a:accent2>
      <a:accent3>
        <a:srgbClr val="006F45"/>
      </a:accent3>
      <a:accent4>
        <a:srgbClr val="0082CA"/>
      </a:accent4>
      <a:accent5>
        <a:srgbClr val="C9242C"/>
      </a:accent5>
      <a:accent6>
        <a:srgbClr val="808283"/>
      </a:accent6>
      <a:hlink>
        <a:srgbClr val="002F56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0" id="{98BA075A-1782-AE4E-8D7B-D4132A333D37}" vid="{26EE1CDA-1D8C-FA44-B31C-4B76743753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56A6382C7BE4EAEA3E7A1003F1D5F" ma:contentTypeVersion="18" ma:contentTypeDescription="Create a new document." ma:contentTypeScope="" ma:versionID="08ed5461af3d24331e1a83b145fbd5bf">
  <xsd:schema xmlns:xsd="http://www.w3.org/2001/XMLSchema" xmlns:xs="http://www.w3.org/2001/XMLSchema" xmlns:p="http://schemas.microsoft.com/office/2006/metadata/properties" xmlns:ns2="d38bd537-b8b1-44d1-8ac0-d8e48bade3da" xmlns:ns3="572787ab-1bba-46af-bc13-3165bc5c54ec" xmlns:ns4="dcfcfc48-1a2d-42a7-b271-c69307805be1" targetNamespace="http://schemas.microsoft.com/office/2006/metadata/properties" ma:root="true" ma:fieldsID="1a798f6f77ca64c597f6e6aaa4d237b1" ns2:_="" ns3:_="" ns4:_="">
    <xsd:import namespace="d38bd537-b8b1-44d1-8ac0-d8e48bade3da"/>
    <xsd:import namespace="572787ab-1bba-46af-bc13-3165bc5c54ec"/>
    <xsd:import namespace="dcfcfc48-1a2d-42a7-b271-c69307805b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bd537-b8b1-44d1-8ac0-d8e48bade3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bc746d9-cbf8-4ec5-9bf9-1cafe5c903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787ab-1bba-46af-bc13-3165bc5c54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fcfc48-1a2d-42a7-b271-c69307805be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0675826-a1bc-4d74-89b9-651684c40b09}" ma:internalName="TaxCatchAll" ma:showField="CatchAllData" ma:web="572787ab-1bba-46af-bc13-3165bc5c54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fcfc48-1a2d-42a7-b271-c69307805be1" xsi:nil="true"/>
    <lcf76f155ced4ddcb4097134ff3c332f xmlns="d38bd537-b8b1-44d1-8ac0-d8e48bade3d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D45B6D-E137-4B5E-8B46-08C42EAC1E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6F0306-1FA8-4C62-B9D2-56D5E6606F85}"/>
</file>

<file path=customXml/itemProps3.xml><?xml version="1.0" encoding="utf-8"?>
<ds:datastoreItem xmlns:ds="http://schemas.openxmlformats.org/officeDocument/2006/customXml" ds:itemID="{4B1C0B4D-D140-4FD6-9CB0-2C69872322C6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purl.org/dc/dcmitype/"/>
    <ds:schemaRef ds:uri="572787ab-1bba-46af-bc13-3165bc5c54ec"/>
    <ds:schemaRef ds:uri="d38bd537-b8b1-44d1-8ac0-d8e48bade3d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1697</TotalTime>
  <Words>812</Words>
  <Application>Microsoft Macintosh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Wingdings</vt:lpstr>
      <vt:lpstr>Office Theme</vt:lpstr>
      <vt:lpstr>FISPACT-II</vt:lpstr>
      <vt:lpstr>Activation analysis and nuclear responses</vt:lpstr>
      <vt:lpstr>A simple example:</vt:lpstr>
      <vt:lpstr>FISPACT-II API: A better workflow</vt:lpstr>
      <vt:lpstr>Building an API script</vt:lpstr>
      <vt:lpstr>Initialisation and nuclear data loading</vt:lpstr>
      <vt:lpstr>Setting the InputData from cells</vt:lpstr>
      <vt:lpstr>Building OutputData tools and storing data</vt:lpstr>
      <vt:lpstr>Running for all cells</vt:lpstr>
      <vt:lpstr>Results for the imaginary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FISPACT-II</dc:title>
  <dc:creator>Bailey, Greg</dc:creator>
  <cp:lastModifiedBy>Bailey, Greg</cp:lastModifiedBy>
  <cp:revision>24</cp:revision>
  <cp:lastPrinted>2017-03-10T11:43:47Z</cp:lastPrinted>
  <dcterms:created xsi:type="dcterms:W3CDTF">2021-10-06T12:19:10Z</dcterms:created>
  <dcterms:modified xsi:type="dcterms:W3CDTF">2024-06-19T13:02:13Z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759de7-3255-46b5-8dfe-736652f9c6c1_Enabled">
    <vt:lpwstr>true</vt:lpwstr>
  </property>
  <property fmtid="{D5CDD505-2E9C-101B-9397-08002B2CF9AE}" pid="3" name="MSIP_Label_22759de7-3255-46b5-8dfe-736652f9c6c1_SetDate">
    <vt:lpwstr>2021-10-06T12:19:10Z</vt:lpwstr>
  </property>
  <property fmtid="{D5CDD505-2E9C-101B-9397-08002B2CF9AE}" pid="4" name="MSIP_Label_22759de7-3255-46b5-8dfe-736652f9c6c1_Method">
    <vt:lpwstr>Standard</vt:lpwstr>
  </property>
  <property fmtid="{D5CDD505-2E9C-101B-9397-08002B2CF9AE}" pid="5" name="MSIP_Label_22759de7-3255-46b5-8dfe-736652f9c6c1_Name">
    <vt:lpwstr>22759de7-3255-46b5-8dfe-736652f9c6c1</vt:lpwstr>
  </property>
  <property fmtid="{D5CDD505-2E9C-101B-9397-08002B2CF9AE}" pid="6" name="MSIP_Label_22759de7-3255-46b5-8dfe-736652f9c6c1_SiteId">
    <vt:lpwstr>c6ac664b-ae27-4d5d-b4e6-bb5717196fc7</vt:lpwstr>
  </property>
  <property fmtid="{D5CDD505-2E9C-101B-9397-08002B2CF9AE}" pid="7" name="MSIP_Label_22759de7-3255-46b5-8dfe-736652f9c6c1_ActionId">
    <vt:lpwstr>63c7cf88-cf46-425c-8a54-712c2149be1a</vt:lpwstr>
  </property>
  <property fmtid="{D5CDD505-2E9C-101B-9397-08002B2CF9AE}" pid="8" name="MSIP_Label_22759de7-3255-46b5-8dfe-736652f9c6c1_ContentBits">
    <vt:lpwstr>0</vt:lpwstr>
  </property>
  <property fmtid="{D5CDD505-2E9C-101B-9397-08002B2CF9AE}" pid="9" name="ContentTypeId">
    <vt:lpwstr>0x01010045F56A6382C7BE4EAEA3E7A1003F1D5F</vt:lpwstr>
  </property>
</Properties>
</file>