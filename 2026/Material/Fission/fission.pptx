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9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F30FF4-A73F-F44C-9B66-B5C9AA8212E9}">
          <p14:sldIdLst>
            <p14:sldId id="258"/>
            <p14:sldId id="260"/>
            <p14:sldId id="261"/>
            <p14:sldId id="262"/>
            <p14:sldId id="263"/>
            <p14:sldId id="264"/>
            <p14:sldId id="265"/>
            <p14:sldId id="269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971D"/>
    <a:srgbClr val="EAA52A"/>
    <a:srgbClr val="132B4E"/>
    <a:srgbClr val="EF413C"/>
    <a:srgbClr val="9091B3"/>
    <a:srgbClr val="9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2"/>
    <p:restoredTop sz="94671"/>
  </p:normalViewPr>
  <p:slideViewPr>
    <p:cSldViewPr snapToGrid="0">
      <p:cViewPr varScale="1">
        <p:scale>
          <a:sx n="127" d="100"/>
          <a:sy n="127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494B7-3010-C04A-A8D2-3A67F5B3F7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9E3AD-85AA-4D4F-953B-BDDC046C417F}" type="datetimeFigureOut">
              <a:rPr lang="en-US" smtClean="0"/>
              <a:t>6/10/24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CD0D-D0C5-DD4D-B44E-98E59B6DF763}" type="datetimeFigureOut">
              <a:rPr lang="en-US" smtClean="0"/>
              <a:t>6/10/24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E606-7E0B-0B4A-8955-4487729D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DA416-708B-DD40-9BCB-CFF6201AA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245" y="-12851"/>
            <a:ext cx="12206472" cy="5324684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13255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li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 marL="342900" indent="-342900">
              <a:buFont typeface="Arial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Insert text or logos as </a:t>
            </a:r>
            <a:r>
              <a:rPr lang="en-US" err="1"/>
              <a:t>neccessary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66867" y="265043"/>
            <a:ext cx="853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32B4E"/>
                </a:solidFill>
                <a:effectLst/>
                <a:uLnTx/>
                <a:uFillTx/>
                <a:latin typeface="Arial Black" charset="0"/>
                <a:ea typeface="Arial Black" charset="0"/>
                <a:cs typeface="Arial Black" charset="0"/>
              </a:rPr>
              <a:t>Affiliations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166868" y="1530994"/>
            <a:ext cx="56246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0"/>
          </p:nvPr>
        </p:nvSpPr>
        <p:spPr>
          <a:xfrm>
            <a:off x="5980255" y="1530994"/>
            <a:ext cx="56523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66868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255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5980255" y="2354906"/>
            <a:ext cx="5624603" cy="36680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457189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2pPr>
            <a:lvl3pPr marL="914377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3pPr>
            <a:lvl4pPr marL="1371566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4pPr>
            <a:lvl5pPr marL="1828754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166868" y="2354906"/>
            <a:ext cx="5624603" cy="366806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0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66479" y="1308009"/>
            <a:ext cx="8853467" cy="39687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3600" spc="0">
                <a:solidFill>
                  <a:schemeClr val="bg1"/>
                </a:solidFill>
              </a:defRPr>
            </a:lvl1pPr>
          </a:lstStyle>
          <a:p>
            <a:r>
              <a:rPr lang="en-GB"/>
              <a:t>INSERT QUOTE HERE</a:t>
            </a: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886674" y="5564305"/>
            <a:ext cx="8413078" cy="487362"/>
          </a:xfrm>
        </p:spPr>
        <p:txBody>
          <a:bodyPr>
            <a:noAutofit/>
          </a:bodyPr>
          <a:lstStyle>
            <a:lvl1pPr algn="ctr">
              <a:defRPr sz="2000" b="1">
                <a:solidFill>
                  <a:srgbClr val="132B4E"/>
                </a:solidFill>
              </a:defRPr>
            </a:lvl1pPr>
          </a:lstStyle>
          <a:p>
            <a:pPr lvl="0"/>
            <a:r>
              <a:rPr lang="en-US"/>
              <a:t>NAME / DATE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31458" y="1034180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573850" y="4825641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Fission in FISAPCT-II, FISPACT-II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8971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876221" y="6387700"/>
            <a:ext cx="70088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Fission in FISAPCT-II, FISPACT-II workshop</a:t>
            </a:r>
          </a:p>
        </p:txBody>
      </p:sp>
      <p:sp>
        <p:nvSpPr>
          <p:cNvPr id="1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7B0-40B1-AA40-8125-ECDD27463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02" y="-12851"/>
            <a:ext cx="12223329" cy="5283120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95C9A-8DA6-EE45-B5F0-22704A8BE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599" y="-12652"/>
            <a:ext cx="12215599" cy="5432550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55666-9723-1348-8D74-D7342B5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BF90A-8A69-3940-B96C-DD0AAFCF4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911EF-2D19-2846-AB9B-CCF838D71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25" y="-12852"/>
            <a:ext cx="12203152" cy="5266495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ustom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0" y="-12699"/>
            <a:ext cx="12202079" cy="5246988"/>
          </a:xfrm>
          <a:custGeom>
            <a:avLst/>
            <a:gdLst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5225723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2916156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202079"/>
              <a:gd name="connsiteY0" fmla="*/ 0 h 5246988"/>
              <a:gd name="connsiteX1" fmla="*/ 10202575 w 12202079"/>
              <a:gd name="connsiteY1" fmla="*/ 0 h 5246988"/>
              <a:gd name="connsiteX2" fmla="*/ 12196763 w 12202079"/>
              <a:gd name="connsiteY2" fmla="*/ 1994188 h 5246988"/>
              <a:gd name="connsiteX3" fmla="*/ 12202079 w 12202079"/>
              <a:gd name="connsiteY3" fmla="*/ 5246988 h 5246988"/>
              <a:gd name="connsiteX4" fmla="*/ 0 w 12202079"/>
              <a:gd name="connsiteY4" fmla="*/ 2916156 h 5246988"/>
              <a:gd name="connsiteX5" fmla="*/ 0 w 12202079"/>
              <a:gd name="connsiteY5" fmla="*/ 0 h 5246988"/>
              <a:gd name="connsiteX6" fmla="*/ 0 w 12202079"/>
              <a:gd name="connsiteY6" fmla="*/ 0 h 52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2079" h="5246988">
                <a:moveTo>
                  <a:pt x="0" y="0"/>
                </a:moveTo>
                <a:lnTo>
                  <a:pt x="10202575" y="0"/>
                </a:lnTo>
                <a:lnTo>
                  <a:pt x="12196763" y="1994188"/>
                </a:lnTo>
                <a:lnTo>
                  <a:pt x="12202079" y="5246988"/>
                </a:lnTo>
                <a:lnTo>
                  <a:pt x="0" y="291615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314930"/>
            <a:ext cx="11150600" cy="4862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4" name="Title Placeholder 23"/>
          <p:cNvSpPr>
            <a:spLocks noGrp="1"/>
          </p:cNvSpPr>
          <p:nvPr>
            <p:ph type="title"/>
          </p:nvPr>
        </p:nvSpPr>
        <p:spPr>
          <a:xfrm>
            <a:off x="203200" y="190097"/>
            <a:ext cx="11150600" cy="10945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87702"/>
            <a:ext cx="663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 i="0">
                <a:solidFill>
                  <a:srgbClr val="F8971D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876221" y="6387700"/>
            <a:ext cx="7008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Fission in FISAPCT-II, FISPACT-II workshop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135" y="6176963"/>
            <a:ext cx="1497403" cy="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73" r:id="rId3"/>
    <p:sldLayoutId id="2147483652" r:id="rId4"/>
    <p:sldLayoutId id="2147483653" r:id="rId5"/>
    <p:sldLayoutId id="2147483660" r:id="rId6"/>
    <p:sldLayoutId id="2147483655" r:id="rId7"/>
    <p:sldLayoutId id="2147483651" r:id="rId8"/>
    <p:sldLayoutId id="2147483677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2" r:id="rId15"/>
  </p:sldLayoutIdLst>
  <p:hf hd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132B4E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4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ispact.ukaea.uk/wiki/Reference_input_spectr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92C4-5ECC-5B24-034F-1C9F4DB81E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B9410-4B5B-4A4A-FEF7-F8CEE03E3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Fission in FISPACT-II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93480-ADFF-20F1-B5EB-BB50BE2AB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FISPACT-II workshop, NEA/OECD</a:t>
            </a:r>
          </a:p>
        </p:txBody>
      </p:sp>
    </p:spTree>
    <p:extLst>
      <p:ext uri="{BB962C8B-B14F-4D97-AF65-F5344CB8AC3E}">
        <p14:creationId xmlns:p14="http://schemas.microsoft.com/office/powerpoint/2010/main" val="297686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8C00A0-A43A-B832-12BE-4A994AF4F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53" y="1147359"/>
            <a:ext cx="11465690" cy="159404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FISPACT-II is cable of including fission in inventory calculations but will not do so without additional inputs.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If the </a:t>
            </a:r>
            <a:r>
              <a:rPr lang="en-GB" b="1" dirty="0"/>
              <a:t>initial composition contains actinides fission should be included</a:t>
            </a:r>
            <a:r>
              <a:rPr lang="en-GB" dirty="0"/>
              <a:t>. If a user is unsure, check the output file: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7D0BE-A140-4479-F9CD-7A4F4D77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51011"/>
          </a:xfrm>
        </p:spPr>
        <p:txBody>
          <a:bodyPr/>
          <a:lstStyle/>
          <a:p>
            <a:r>
              <a:rPr lang="en-GB" dirty="0"/>
              <a:t>Fission in FISPACT-II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AF509-113E-F745-DE0E-6ECFE8DDCE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0C535-A404-E781-6BC9-A382729A2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A2A0DF0-FD6E-5581-8D48-7C2116C32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631" y="3049674"/>
            <a:ext cx="7772400" cy="973393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C85C0E-037D-F819-364E-C9C0DECFCC1A}"/>
              </a:ext>
            </a:extLst>
          </p:cNvPr>
          <p:cNvSpPr txBox="1"/>
          <p:nvPr/>
        </p:nvSpPr>
        <p:spPr>
          <a:xfrm>
            <a:off x="0" y="4442456"/>
            <a:ext cx="114852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include fission:</a:t>
            </a:r>
          </a:p>
          <a:p>
            <a:pPr marL="1371577" lvl="2" indent="-457200">
              <a:buFont typeface="+mj-lt"/>
              <a:buAutoNum type="arabicParenR"/>
            </a:pPr>
            <a:r>
              <a:rPr lang="en-GB" sz="2200" dirty="0"/>
              <a:t>Load Fission Yields (via the </a:t>
            </a:r>
            <a:r>
              <a:rPr lang="en-GB" sz="2200" i="1" dirty="0">
                <a:solidFill>
                  <a:srgbClr val="F8971D"/>
                </a:solidFill>
              </a:rPr>
              <a:t>files</a:t>
            </a:r>
            <a:r>
              <a:rPr lang="en-GB" sz="2200" dirty="0">
                <a:solidFill>
                  <a:srgbClr val="F8971D"/>
                </a:solidFill>
              </a:rPr>
              <a:t> file</a:t>
            </a:r>
            <a:r>
              <a:rPr lang="en-GB" sz="2200" dirty="0"/>
              <a:t>/</a:t>
            </a:r>
            <a:r>
              <a:rPr lang="en-GB" sz="2200" dirty="0">
                <a:solidFill>
                  <a:srgbClr val="F8971D"/>
                </a:solidFill>
              </a:rPr>
              <a:t>Nuclear Data Object</a:t>
            </a:r>
            <a:r>
              <a:rPr lang="en-GB" sz="2200" dirty="0"/>
              <a:t>)</a:t>
            </a:r>
          </a:p>
          <a:p>
            <a:pPr marL="1371577" lvl="2" indent="-457200">
              <a:buFont typeface="+mj-lt"/>
              <a:buAutoNum type="arabicParenR"/>
            </a:pPr>
            <a:r>
              <a:rPr lang="en-GB" sz="2200" dirty="0"/>
              <a:t>Turn on the fission process (</a:t>
            </a:r>
            <a:r>
              <a:rPr lang="en-GB" sz="2200" b="1" dirty="0">
                <a:solidFill>
                  <a:srgbClr val="F8971D"/>
                </a:solidFill>
              </a:rPr>
              <a:t>USEFISSION</a:t>
            </a:r>
            <a:r>
              <a:rPr lang="en-GB" sz="2200" dirty="0"/>
              <a:t>)</a:t>
            </a:r>
          </a:p>
          <a:p>
            <a:pPr marL="1371577" lvl="2" indent="-457200">
              <a:buFont typeface="+mj-lt"/>
              <a:buAutoNum type="arabicParenR"/>
            </a:pPr>
            <a:r>
              <a:rPr lang="en-GB" sz="2200" dirty="0"/>
              <a:t>Input which nuclides to be allowed/disallowed to undergo fission (</a:t>
            </a:r>
            <a:r>
              <a:rPr lang="en-GB" sz="2200" b="1" dirty="0">
                <a:solidFill>
                  <a:srgbClr val="F8971D"/>
                </a:solidFill>
              </a:rPr>
              <a:t>FISYEILD</a:t>
            </a:r>
            <a:r>
              <a:rPr lang="en-GB" sz="2200" dirty="0"/>
              <a:t>)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6894B-FCAE-FB18-726E-78CDB2883772}"/>
              </a:ext>
            </a:extLst>
          </p:cNvPr>
          <p:cNvSpPr txBox="1"/>
          <p:nvPr/>
        </p:nvSpPr>
        <p:spPr>
          <a:xfrm>
            <a:off x="81053" y="2874650"/>
            <a:ext cx="42404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8971D"/>
                </a:solidFill>
              </a:rPr>
              <a:t>If </a:t>
            </a:r>
            <a:r>
              <a:rPr lang="en-GB" sz="2000" b="1" dirty="0">
                <a:solidFill>
                  <a:srgbClr val="F8971D"/>
                </a:solidFill>
              </a:rPr>
              <a:t>NUMBER OF FISSIONS </a:t>
            </a:r>
            <a:r>
              <a:rPr lang="en-GB" sz="2000" dirty="0">
                <a:solidFill>
                  <a:srgbClr val="F8971D"/>
                </a:solidFill>
              </a:rPr>
              <a:t>is greater than zero == a fission channel is open!</a:t>
            </a:r>
          </a:p>
          <a:p>
            <a:r>
              <a:rPr lang="en-GB" sz="2000" dirty="0">
                <a:solidFill>
                  <a:srgbClr val="132B4E"/>
                </a:solidFill>
              </a:rPr>
              <a:t>[</a:t>
            </a:r>
            <a:r>
              <a:rPr lang="en-GB" sz="2000" i="1" dirty="0">
                <a:solidFill>
                  <a:srgbClr val="132B4E"/>
                </a:solidFill>
              </a:rPr>
              <a:t>tally of MT18 (</a:t>
            </a:r>
            <a:r>
              <a:rPr lang="en-GB" sz="2000" i="1" dirty="0" err="1">
                <a:solidFill>
                  <a:srgbClr val="132B4E"/>
                </a:solidFill>
              </a:rPr>
              <a:t>n,f</a:t>
            </a:r>
            <a:r>
              <a:rPr lang="en-GB" sz="2000" i="1" dirty="0">
                <a:solidFill>
                  <a:srgbClr val="132B4E"/>
                </a:solidFill>
              </a:rPr>
              <a:t>)]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591B55-541E-3AB0-8AC9-C3D3C2F154D7}"/>
              </a:ext>
            </a:extLst>
          </p:cNvPr>
          <p:cNvCxnSpPr>
            <a:cxnSpLocks/>
          </p:cNvCxnSpPr>
          <p:nvPr/>
        </p:nvCxnSpPr>
        <p:spPr>
          <a:xfrm>
            <a:off x="3838470" y="3333184"/>
            <a:ext cx="542161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15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733123-DC08-12CD-5014-C1D2B4D3E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963322"/>
            <a:ext cx="11031974" cy="170900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Two types of fission yields in FISAPCT: Spontaneous and Induced.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8971D"/>
                </a:solidFill>
              </a:rPr>
              <a:t>Spontaneous yields </a:t>
            </a:r>
            <a:r>
              <a:rPr lang="en-GB" dirty="0">
                <a:solidFill>
                  <a:schemeClr val="tx1"/>
                </a:solidFill>
              </a:rPr>
              <a:t>cover spontaneous fission</a:t>
            </a:r>
            <a:r>
              <a:rPr lang="en-GB" dirty="0">
                <a:solidFill>
                  <a:srgbClr val="F8971D"/>
                </a:solidFill>
              </a:rPr>
              <a:t>. A decay process.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8971D"/>
                </a:solidFill>
              </a:rPr>
              <a:t>Induced fission yields </a:t>
            </a:r>
            <a:r>
              <a:rPr lang="en-GB" dirty="0"/>
              <a:t>are those from (</a:t>
            </a:r>
            <a:r>
              <a:rPr lang="en-GB" dirty="0" err="1"/>
              <a:t>n,f</a:t>
            </a:r>
            <a:r>
              <a:rPr lang="en-GB" dirty="0"/>
              <a:t>) reactions </a:t>
            </a:r>
            <a:r>
              <a:rPr lang="en-GB" dirty="0">
                <a:solidFill>
                  <a:srgbClr val="F8971D"/>
                </a:solidFill>
              </a:rPr>
              <a:t>(MT18)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8971D"/>
                </a:solidFill>
              </a:rPr>
              <a:t>NOFISS</a:t>
            </a:r>
            <a:r>
              <a:rPr lang="en-GB" dirty="0"/>
              <a:t> keyword prevents yields form being read (</a:t>
            </a:r>
            <a:r>
              <a:rPr lang="en-GB" i="1" dirty="0">
                <a:solidFill>
                  <a:srgbClr val="F8971D"/>
                </a:solidFill>
              </a:rPr>
              <a:t>before FISPACT keyword</a:t>
            </a:r>
            <a:r>
              <a:rPr lang="en-GB" dirty="0"/>
              <a:t>).</a:t>
            </a:r>
            <a:endParaRPr lang="en-GB" dirty="0">
              <a:solidFill>
                <a:srgbClr val="F8971D"/>
              </a:solidFill>
            </a:endParaRPr>
          </a:p>
          <a:p>
            <a:r>
              <a:rPr lang="en-GB" dirty="0"/>
              <a:t>FISPACT uses these to populate the inventory with the correct fission products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65FA69-1F8A-4254-0179-AEB041E4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41966"/>
          </a:xfrm>
        </p:spPr>
        <p:txBody>
          <a:bodyPr>
            <a:normAutofit/>
          </a:bodyPr>
          <a:lstStyle/>
          <a:p>
            <a:r>
              <a:rPr lang="en-GB" dirty="0"/>
              <a:t>Loading Fission Yields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1F375-F751-68FB-C83D-787C319294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0BE73-F79F-848A-9F1B-95F25230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2DE2D-8148-B21E-D45F-3CFD283126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297"/>
          <a:stretch/>
        </p:blipFill>
        <p:spPr>
          <a:xfrm>
            <a:off x="4380631" y="2724615"/>
            <a:ext cx="6197600" cy="82665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CEDFF9-C7C7-1EB7-18BD-77AC1AE1C2E4}"/>
              </a:ext>
            </a:extLst>
          </p:cNvPr>
          <p:cNvSpPr txBox="1"/>
          <p:nvPr/>
        </p:nvSpPr>
        <p:spPr>
          <a:xfrm>
            <a:off x="0" y="2826711"/>
            <a:ext cx="3855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8971D"/>
                </a:solidFill>
              </a:rPr>
              <a:t>Loading via the </a:t>
            </a:r>
            <a:r>
              <a:rPr lang="en-GB" sz="2400" b="1" i="1" dirty="0">
                <a:solidFill>
                  <a:srgbClr val="F8971D"/>
                </a:solidFill>
              </a:rPr>
              <a:t>files</a:t>
            </a:r>
            <a:r>
              <a:rPr lang="en-GB" sz="2400" b="1" dirty="0">
                <a:solidFill>
                  <a:srgbClr val="F8971D"/>
                </a:solidFill>
              </a:rPr>
              <a:t> File: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1F18D-4144-1ED1-6BED-2E9B817D42B8}"/>
              </a:ext>
            </a:extLst>
          </p:cNvPr>
          <p:cNvSpPr txBox="1"/>
          <p:nvPr/>
        </p:nvSpPr>
        <p:spPr>
          <a:xfrm>
            <a:off x="5568751" y="3603558"/>
            <a:ext cx="4616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err="1">
                <a:solidFill>
                  <a:srgbClr val="F8971D"/>
                </a:solidFill>
              </a:rPr>
              <a:t>fy_endf</a:t>
            </a:r>
            <a:r>
              <a:rPr lang="en-GB" sz="2000" b="1" dirty="0">
                <a:solidFill>
                  <a:srgbClr val="F8971D"/>
                </a:solidFill>
              </a:rPr>
              <a:t> </a:t>
            </a:r>
            <a:r>
              <a:rPr lang="en-GB" sz="2000" dirty="0"/>
              <a:t>: Induced fission yield files</a:t>
            </a:r>
          </a:p>
          <a:p>
            <a:r>
              <a:rPr lang="en-GB" sz="2000" b="1" dirty="0" err="1">
                <a:solidFill>
                  <a:srgbClr val="F8971D"/>
                </a:solidFill>
              </a:rPr>
              <a:t>sf_endf</a:t>
            </a:r>
            <a:r>
              <a:rPr lang="en-GB" sz="2000" b="1" dirty="0">
                <a:solidFill>
                  <a:srgbClr val="F8971D"/>
                </a:solidFill>
              </a:rPr>
              <a:t> </a:t>
            </a:r>
            <a:r>
              <a:rPr lang="en-GB" sz="2000" dirty="0"/>
              <a:t>: Spontaneous fission yield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64D47-F1D2-94B6-F4EE-BEAC571BC6CB}"/>
              </a:ext>
            </a:extLst>
          </p:cNvPr>
          <p:cNvSpPr txBox="1"/>
          <p:nvPr/>
        </p:nvSpPr>
        <p:spPr>
          <a:xfrm>
            <a:off x="0" y="3881800"/>
            <a:ext cx="312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8971D"/>
                </a:solidFill>
              </a:rPr>
              <a:t>Loading via the API: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6247C6-1996-5503-44B8-5DD4161C4E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8" t="35437" r="2861" b="52970"/>
          <a:stretch/>
        </p:blipFill>
        <p:spPr>
          <a:xfrm>
            <a:off x="2466110" y="4475224"/>
            <a:ext cx="9282545" cy="461665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838BA6-3730-0B55-735C-1567FB80BA45}"/>
              </a:ext>
            </a:extLst>
          </p:cNvPr>
          <p:cNvSpPr txBox="1"/>
          <p:nvPr/>
        </p:nvSpPr>
        <p:spPr>
          <a:xfrm>
            <a:off x="0" y="5063681"/>
            <a:ext cx="10764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Including these in a </a:t>
            </a:r>
            <a:r>
              <a:rPr lang="en-GB" sz="2400" i="1" dirty="0">
                <a:solidFill>
                  <a:srgbClr val="F8971D"/>
                </a:solidFill>
              </a:rPr>
              <a:t>files</a:t>
            </a:r>
            <a:r>
              <a:rPr lang="en-GB" sz="2400" dirty="0"/>
              <a:t> file or API nuclear data object will cause FISAPCT-II to load the fission yield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E9044C-C359-0D8F-2939-3DAF4F97512C}"/>
              </a:ext>
            </a:extLst>
          </p:cNvPr>
          <p:cNvSpPr txBox="1"/>
          <p:nvPr/>
        </p:nvSpPr>
        <p:spPr>
          <a:xfrm>
            <a:off x="9755396" y="1673229"/>
            <a:ext cx="1912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Allows reuse of </a:t>
            </a:r>
            <a:r>
              <a:rPr lang="en-GB" i="1" dirty="0">
                <a:solidFill>
                  <a:srgbClr val="00B050"/>
                </a:solidFill>
              </a:rPr>
              <a:t>files</a:t>
            </a:r>
            <a:r>
              <a:rPr lang="en-GB" dirty="0">
                <a:solidFill>
                  <a:srgbClr val="00B050"/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7682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991ED3-C48D-3965-2416-9CB433F9F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967571"/>
            <a:ext cx="11465690" cy="319244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Fission can be turned on/off in FISPACT-II: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the input file: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8971D"/>
                </a:solidFill>
              </a:rPr>
              <a:t>USEFISSION</a:t>
            </a:r>
            <a:r>
              <a:rPr lang="en-GB" dirty="0"/>
              <a:t> keyword turn on fission (</a:t>
            </a:r>
            <a:r>
              <a:rPr lang="en-GB" i="1" dirty="0">
                <a:solidFill>
                  <a:srgbClr val="F8971D"/>
                </a:solidFill>
              </a:rPr>
              <a:t>after FISPACT keyword</a:t>
            </a:r>
            <a:r>
              <a:rPr lang="en-GB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the API, the </a:t>
            </a:r>
            <a:r>
              <a:rPr lang="en-GB" b="1" dirty="0" err="1">
                <a:solidFill>
                  <a:srgbClr val="F8971D"/>
                </a:solidFill>
              </a:rPr>
              <a:t>InputData</a:t>
            </a:r>
            <a:r>
              <a:rPr lang="en-GB" dirty="0"/>
              <a:t> Object includes the </a:t>
            </a:r>
            <a:r>
              <a:rPr lang="en-GB" b="1" dirty="0" err="1">
                <a:solidFill>
                  <a:srgbClr val="F8971D"/>
                </a:solidFill>
              </a:rPr>
              <a:t>setusefission</a:t>
            </a:r>
            <a:r>
              <a:rPr lang="en-GB" dirty="0"/>
              <a:t> method: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True</a:t>
            </a:r>
            <a:r>
              <a:rPr lang="en-GB" dirty="0"/>
              <a:t> for fission to be on, </a:t>
            </a:r>
            <a:r>
              <a:rPr lang="en-GB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False</a:t>
            </a:r>
            <a:r>
              <a:rPr lang="en-GB" dirty="0"/>
              <a:t> to turn it off.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By default, FISPACT-II uses independent (MT454) yields. To use the </a:t>
            </a:r>
            <a:r>
              <a:rPr lang="en-GB" b="1" dirty="0"/>
              <a:t>Cumulative fission yield</a:t>
            </a:r>
            <a:r>
              <a:rPr lang="en-GB" dirty="0"/>
              <a:t> data: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8971D"/>
                </a:solidFill>
              </a:rPr>
              <a:t>CUMFYLD</a:t>
            </a:r>
            <a:r>
              <a:rPr lang="en-GB" dirty="0"/>
              <a:t> keyword (</a:t>
            </a:r>
            <a:r>
              <a:rPr lang="en-GB" i="1" dirty="0">
                <a:solidFill>
                  <a:srgbClr val="F8971D"/>
                </a:solidFill>
              </a:rPr>
              <a:t>before FISPACT keyword</a:t>
            </a:r>
            <a:r>
              <a:rPr lang="en-GB" dirty="0"/>
              <a:t>) should be included in the input file.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i="1" dirty="0" err="1">
                <a:solidFill>
                  <a:srgbClr val="EAA52A"/>
                </a:solidFill>
              </a:rPr>
              <a:t>setreadcumfy</a:t>
            </a:r>
            <a:r>
              <a:rPr lang="en-GB" dirty="0"/>
              <a:t> to True in API </a:t>
            </a:r>
            <a:r>
              <a:rPr lang="en-GB" dirty="0" err="1"/>
              <a:t>NuclearDataReader</a:t>
            </a:r>
            <a:r>
              <a:rPr lang="en-GB" dirty="0"/>
              <a:t> object.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EDE57B-BC19-295E-033D-83A75E3E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62141"/>
          </a:xfrm>
        </p:spPr>
        <p:txBody>
          <a:bodyPr/>
          <a:lstStyle/>
          <a:p>
            <a:r>
              <a:rPr lang="en-GB" dirty="0"/>
              <a:t>Include fission in inventory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D7208-3222-0925-71C4-54D5442887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45FE5-33FE-9E74-B8F5-E64C9CFA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155FEC05-7759-2A7B-2CC9-FBA26B5B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4317818"/>
            <a:ext cx="4309918" cy="1423549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90DF6-D2B9-0ED9-DF47-5603981D0F1F}"/>
              </a:ext>
            </a:extLst>
          </p:cNvPr>
          <p:cNvSpPr txBox="1"/>
          <p:nvPr/>
        </p:nvSpPr>
        <p:spPr>
          <a:xfrm>
            <a:off x="272125" y="5741369"/>
            <a:ext cx="4802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0B050"/>
                </a:solidFill>
              </a:rPr>
              <a:t>Example: use of CUMFLD in FISPACT-II input file</a:t>
            </a:r>
          </a:p>
        </p:txBody>
      </p:sp>
      <p:pic>
        <p:nvPicPr>
          <p:cNvPr id="10" name="Picture 9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E976CF5-117D-1FE7-599A-B681D181D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294" y="4581362"/>
            <a:ext cx="6820952" cy="101344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E006E5-3E36-188B-914D-478078E73F0E}"/>
              </a:ext>
            </a:extLst>
          </p:cNvPr>
          <p:cNvSpPr txBox="1"/>
          <p:nvPr/>
        </p:nvSpPr>
        <p:spPr>
          <a:xfrm>
            <a:off x="5395319" y="4212030"/>
            <a:ext cx="6382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B050"/>
                </a:solidFill>
              </a:rPr>
              <a:t>Example: use of </a:t>
            </a:r>
            <a:r>
              <a:rPr lang="en-GB" i="1" dirty="0" err="1">
                <a:solidFill>
                  <a:srgbClr val="00B050"/>
                </a:solidFill>
              </a:rPr>
              <a:t>setreadcumfy</a:t>
            </a:r>
            <a:r>
              <a:rPr lang="en-GB" i="1" dirty="0">
                <a:solidFill>
                  <a:srgbClr val="00B050"/>
                </a:solidFill>
              </a:rPr>
              <a:t>(True) in FISPACT Python API </a:t>
            </a:r>
          </a:p>
        </p:txBody>
      </p:sp>
    </p:spTree>
    <p:extLst>
      <p:ext uri="{BB962C8B-B14F-4D97-AF65-F5344CB8AC3E}">
        <p14:creationId xmlns:p14="http://schemas.microsoft.com/office/powerpoint/2010/main" val="151391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ABC021-6531-60C6-F179-2693CA5E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940525"/>
            <a:ext cx="11465690" cy="132556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FISPACT-II will only allow fission to occur on a subset of nuclides.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A user must specify which nuclides should be allowed to undergo fission via the </a:t>
            </a:r>
            <a:r>
              <a:rPr lang="en-GB" sz="2200" b="1" dirty="0">
                <a:solidFill>
                  <a:srgbClr val="F8971D"/>
                </a:solidFill>
              </a:rPr>
              <a:t>FISYIELD</a:t>
            </a:r>
            <a:r>
              <a:rPr lang="en-GB" sz="2200" dirty="0"/>
              <a:t> keyword.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Any number of nuclides can be 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D8DC8E-BEE3-90FF-4662-CC63637C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52121"/>
          </a:xfrm>
        </p:spPr>
        <p:txBody>
          <a:bodyPr/>
          <a:lstStyle/>
          <a:p>
            <a:r>
              <a:rPr lang="en-GB" dirty="0"/>
              <a:t>Including fission on Nuclides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AB763-CEDC-2354-A9ED-AD67337265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6A88A-8937-2F2C-1276-127510FD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E2621-1950-D6CB-2F6F-93AD03096A60}"/>
              </a:ext>
            </a:extLst>
          </p:cNvPr>
          <p:cNvSpPr txBox="1"/>
          <p:nvPr/>
        </p:nvSpPr>
        <p:spPr>
          <a:xfrm>
            <a:off x="6515100" y="1765032"/>
            <a:ext cx="46634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00B050"/>
                </a:solidFill>
              </a:rPr>
              <a:t>Example: </a:t>
            </a:r>
            <a:r>
              <a:rPr lang="en-GB" sz="1600" i="1" dirty="0">
                <a:solidFill>
                  <a:srgbClr val="00B050"/>
                </a:solidFill>
              </a:rPr>
              <a:t>Include fission on U235 and U238 only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8819812-DF65-B496-B766-C8443CBEA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084742"/>
            <a:ext cx="5356460" cy="2669673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13" name="Picture 12" descr="A computer code with colorful text&#10;&#10;Description automatically generated">
            <a:extLst>
              <a:ext uri="{FF2B5EF4-FFF2-40B4-BE49-F238E27FC236}">
                <a16:creationId xmlns:a16="http://schemas.microsoft.com/office/drawing/2014/main" id="{B4CF24E1-4FAE-C893-BFB4-4393BE8BC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" y="4803085"/>
            <a:ext cx="6413500" cy="10033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792DB3-91F9-CBCF-2627-6FD098F6E426}"/>
              </a:ext>
            </a:extLst>
          </p:cNvPr>
          <p:cNvSpPr txBox="1"/>
          <p:nvPr/>
        </p:nvSpPr>
        <p:spPr>
          <a:xfrm>
            <a:off x="0" y="5806385"/>
            <a:ext cx="5798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00B050"/>
                </a:solidFill>
              </a:rPr>
              <a:t>Example: </a:t>
            </a:r>
            <a:r>
              <a:rPr lang="en-GB" sz="1600" i="1" dirty="0">
                <a:solidFill>
                  <a:srgbClr val="00B050"/>
                </a:solidFill>
              </a:rPr>
              <a:t>Include fission on U235 and U238 in Python API. </a:t>
            </a:r>
          </a:p>
          <a:p>
            <a:r>
              <a:rPr lang="en-GB" sz="1600" i="1" dirty="0">
                <a:solidFill>
                  <a:srgbClr val="00B050"/>
                </a:solidFill>
              </a:rPr>
              <a:t>Here </a:t>
            </a:r>
            <a:r>
              <a:rPr lang="en-GB" sz="1600" b="1" dirty="0">
                <a:solidFill>
                  <a:srgbClr val="00B050"/>
                </a:solidFill>
              </a:rPr>
              <a:t>input</a:t>
            </a:r>
            <a:r>
              <a:rPr lang="en-GB" sz="1600" i="1" dirty="0">
                <a:solidFill>
                  <a:srgbClr val="00B050"/>
                </a:solidFill>
              </a:rPr>
              <a:t> is a </a:t>
            </a:r>
            <a:r>
              <a:rPr lang="en-GB" sz="1600" i="1" dirty="0" err="1">
                <a:solidFill>
                  <a:srgbClr val="00B050"/>
                </a:solidFill>
              </a:rPr>
              <a:t>pf.InputData</a:t>
            </a:r>
            <a:r>
              <a:rPr lang="en-GB" sz="1600" i="1" dirty="0">
                <a:solidFill>
                  <a:srgbClr val="00B050"/>
                </a:solidFill>
              </a:rPr>
              <a:t> object and </a:t>
            </a:r>
            <a:r>
              <a:rPr lang="en-GB" sz="1600" b="1" i="1" dirty="0">
                <a:solidFill>
                  <a:srgbClr val="00B050"/>
                </a:solidFill>
              </a:rPr>
              <a:t>pf</a:t>
            </a:r>
            <a:r>
              <a:rPr lang="en-GB" sz="1600" i="1" dirty="0">
                <a:solidFill>
                  <a:srgbClr val="00B050"/>
                </a:solidFill>
              </a:rPr>
              <a:t> is </a:t>
            </a:r>
            <a:r>
              <a:rPr lang="en-GB" sz="1600" i="1" dirty="0" err="1">
                <a:solidFill>
                  <a:srgbClr val="00B050"/>
                </a:solidFill>
              </a:rPr>
              <a:t>pyfispact</a:t>
            </a:r>
            <a:r>
              <a:rPr lang="en-GB" sz="1600" i="1" dirty="0">
                <a:solidFill>
                  <a:srgbClr val="00B050"/>
                </a:solidFill>
              </a:rPr>
              <a:t>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4AE07-9A52-A46F-05F3-7378E10EBC4E}"/>
              </a:ext>
            </a:extLst>
          </p:cNvPr>
          <p:cNvSpPr txBox="1"/>
          <p:nvPr/>
        </p:nvSpPr>
        <p:spPr>
          <a:xfrm>
            <a:off x="397" y="2296193"/>
            <a:ext cx="6413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132B4E"/>
                </a:solidFill>
              </a:rPr>
              <a:t>Input file syntax:</a:t>
            </a:r>
          </a:p>
          <a:p>
            <a:pPr lvl="3"/>
            <a:r>
              <a:rPr lang="en-GB" sz="2000" dirty="0">
                <a:solidFill>
                  <a:srgbClr val="F8971D"/>
                </a:solidFill>
              </a:rPr>
              <a:t>FISYIELD &lt;number of nuclides&gt;</a:t>
            </a:r>
          </a:p>
          <a:p>
            <a:pPr lvl="3"/>
            <a:r>
              <a:rPr lang="en-GB" sz="2000" dirty="0">
                <a:solidFill>
                  <a:srgbClr val="F8971D"/>
                </a:solidFill>
              </a:rPr>
              <a:t>	nuclide 1</a:t>
            </a:r>
          </a:p>
          <a:p>
            <a:pPr lvl="3"/>
            <a:r>
              <a:rPr lang="en-GB" sz="2000" dirty="0">
                <a:solidFill>
                  <a:srgbClr val="F8971D"/>
                </a:solidFill>
              </a:rPr>
              <a:t>	nuclide 2</a:t>
            </a:r>
          </a:p>
          <a:p>
            <a:pPr lvl="3"/>
            <a:r>
              <a:rPr lang="en-GB" sz="2000" dirty="0">
                <a:solidFill>
                  <a:srgbClr val="F8971D"/>
                </a:solidFill>
              </a:rPr>
              <a:t>	etc.</a:t>
            </a:r>
          </a:p>
          <a:p>
            <a:endParaRPr lang="en-GB" sz="2000" dirty="0">
              <a:solidFill>
                <a:srgbClr val="F8971D"/>
              </a:solidFill>
            </a:endParaRPr>
          </a:p>
          <a:p>
            <a:r>
              <a:rPr lang="en-GB" sz="2000" dirty="0">
                <a:solidFill>
                  <a:srgbClr val="132B4E"/>
                </a:solidFill>
              </a:rPr>
              <a:t>If only 1 nuclide, can be single line: </a:t>
            </a:r>
            <a:r>
              <a:rPr lang="en-GB" sz="2000" dirty="0">
                <a:solidFill>
                  <a:srgbClr val="F8971D"/>
                </a:solidFill>
              </a:rPr>
              <a:t>FISYIELD 1 nuclide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BE677B-4ACE-C8C0-9300-55391F525B86}"/>
              </a:ext>
            </a:extLst>
          </p:cNvPr>
          <p:cNvSpPr txBox="1"/>
          <p:nvPr/>
        </p:nvSpPr>
        <p:spPr>
          <a:xfrm>
            <a:off x="7027566" y="5390800"/>
            <a:ext cx="48439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FISPACT API has </a:t>
            </a:r>
            <a:r>
              <a:rPr lang="en-GB" sz="2000" i="1" dirty="0" err="1">
                <a:solidFill>
                  <a:srgbClr val="F8971D"/>
                </a:solidFill>
              </a:rPr>
              <a:t>setfissionyieldincludes</a:t>
            </a:r>
            <a:r>
              <a:rPr lang="en-GB" sz="2000" i="1" dirty="0">
                <a:solidFill>
                  <a:srgbClr val="F8971D"/>
                </a:solidFill>
              </a:rPr>
              <a:t> </a:t>
            </a:r>
            <a:r>
              <a:rPr lang="en-GB" sz="2000" dirty="0"/>
              <a:t>method to set which takes a list of nuclides to use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8DE45F-7270-F237-B272-54D6D8F4ABA1}"/>
              </a:ext>
            </a:extLst>
          </p:cNvPr>
          <p:cNvCxnSpPr>
            <a:cxnSpLocks/>
            <a:endCxn id="15" idx="3"/>
          </p:cNvCxnSpPr>
          <p:nvPr/>
        </p:nvCxnSpPr>
        <p:spPr>
          <a:xfrm>
            <a:off x="4843305" y="3269389"/>
            <a:ext cx="1570592" cy="1501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65995C-9FCE-1262-2ADB-778AB09D84E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6413897" y="5806385"/>
            <a:ext cx="613669" cy="92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35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B8A76C-74BB-1073-579E-B84C62E77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1088406"/>
            <a:ext cx="11465690" cy="179501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Fission can be turned off for a subset of nuclides.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If the </a:t>
            </a:r>
            <a:r>
              <a:rPr lang="en-GB" b="1" dirty="0">
                <a:solidFill>
                  <a:srgbClr val="F8971D"/>
                </a:solidFill>
              </a:rPr>
              <a:t>FISYIELD </a:t>
            </a:r>
            <a:r>
              <a:rPr lang="en-GB" dirty="0"/>
              <a:t>keyword in invoked with a negative argument fission is disabled for the given nuclides.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8971D"/>
                </a:solidFill>
              </a:rPr>
              <a:t>FISYIELD 0 </a:t>
            </a:r>
            <a:r>
              <a:rPr lang="en-GB" dirty="0"/>
              <a:t>disables fission for all nuclides.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Fission is allowed for all other nuclides.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E7FE6-9004-A7B8-A812-0ED7A691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Excluding fission on Nuclides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44AAE-87D9-2D96-0352-68B3D0E406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CBCCF-DDBD-E8BD-916B-1C1D2DB1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3919186B-3B80-F17C-DCDF-4E34F6C43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3107986"/>
            <a:ext cx="5500402" cy="1701486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B15ED0-B086-8717-4684-FAF252A178ED}"/>
              </a:ext>
            </a:extLst>
          </p:cNvPr>
          <p:cNvSpPr txBox="1"/>
          <p:nvPr/>
        </p:nvSpPr>
        <p:spPr>
          <a:xfrm>
            <a:off x="0" y="4882254"/>
            <a:ext cx="5375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50"/>
                </a:solidFill>
              </a:rPr>
              <a:t>Example: </a:t>
            </a:r>
            <a:r>
              <a:rPr lang="en-GB" sz="1600" i="1" dirty="0">
                <a:solidFill>
                  <a:srgbClr val="00B050"/>
                </a:solidFill>
              </a:rPr>
              <a:t>Exclude fission on Pu239, Pu240 and Pu242.</a:t>
            </a:r>
          </a:p>
          <a:p>
            <a:r>
              <a:rPr lang="en-GB" sz="1600" i="1" dirty="0">
                <a:solidFill>
                  <a:srgbClr val="00B050"/>
                </a:solidFill>
              </a:rPr>
              <a:t>Same input file syntax as 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20E09-82D8-EA94-AFC5-3BB548464C0A}"/>
              </a:ext>
            </a:extLst>
          </p:cNvPr>
          <p:cNvSpPr txBox="1"/>
          <p:nvPr/>
        </p:nvSpPr>
        <p:spPr>
          <a:xfrm>
            <a:off x="6296362" y="2928719"/>
            <a:ext cx="58956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FISPACT API has </a:t>
            </a:r>
            <a:r>
              <a:rPr lang="en-GB" sz="2200" i="1" dirty="0" err="1">
                <a:solidFill>
                  <a:srgbClr val="F8971D"/>
                </a:solidFill>
              </a:rPr>
              <a:t>setfissionyieldexcludes</a:t>
            </a:r>
            <a:r>
              <a:rPr lang="en-GB" sz="2200" i="1" dirty="0">
                <a:solidFill>
                  <a:srgbClr val="F8971D"/>
                </a:solidFill>
              </a:rPr>
              <a:t> </a:t>
            </a:r>
            <a:r>
              <a:rPr lang="en-GB" sz="2200" dirty="0">
                <a:solidFill>
                  <a:srgbClr val="132B4E"/>
                </a:solidFill>
              </a:rPr>
              <a:t>method for exclude fission on a set of nuclides.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132B4E"/>
                </a:solidFill>
              </a:rPr>
              <a:t>Also, </a:t>
            </a:r>
            <a:r>
              <a:rPr lang="en-GB" sz="2200" i="1" dirty="0" err="1">
                <a:solidFill>
                  <a:srgbClr val="F8971D"/>
                </a:solidFill>
              </a:rPr>
              <a:t>setfissionyieldexcludeall</a:t>
            </a:r>
            <a:r>
              <a:rPr lang="en-GB" sz="2200" i="1" dirty="0">
                <a:solidFill>
                  <a:srgbClr val="F8971D"/>
                </a:solidFill>
              </a:rPr>
              <a:t> </a:t>
            </a:r>
            <a:r>
              <a:rPr lang="en-GB" sz="2200" dirty="0">
                <a:solidFill>
                  <a:srgbClr val="132B4E"/>
                </a:solidFill>
              </a:rPr>
              <a:t>method is available [equivalent of </a:t>
            </a:r>
            <a:r>
              <a:rPr lang="en-GB" sz="2200" b="1" dirty="0">
                <a:solidFill>
                  <a:srgbClr val="F8971D"/>
                </a:solidFill>
              </a:rPr>
              <a:t>FISYIELD 0</a:t>
            </a:r>
            <a:r>
              <a:rPr lang="en-GB" sz="2200" dirty="0">
                <a:solidFill>
                  <a:srgbClr val="132B4E"/>
                </a:solidFill>
              </a:rPr>
              <a:t>]</a:t>
            </a:r>
          </a:p>
        </p:txBody>
      </p:sp>
      <p:pic>
        <p:nvPicPr>
          <p:cNvPr id="11" name="Picture 10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B0142B5-98E4-D352-5D47-F1F765C1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440" y="4841441"/>
            <a:ext cx="6142637" cy="115248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9387BB-8833-FAE9-E9AA-24C01E3B50E9}"/>
              </a:ext>
            </a:extLst>
          </p:cNvPr>
          <p:cNvSpPr txBox="1"/>
          <p:nvPr/>
        </p:nvSpPr>
        <p:spPr>
          <a:xfrm>
            <a:off x="5176294" y="6066710"/>
            <a:ext cx="5189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50"/>
                </a:solidFill>
              </a:rPr>
              <a:t>Example: </a:t>
            </a:r>
            <a:r>
              <a:rPr lang="en-GB" sz="1600" i="1" dirty="0">
                <a:solidFill>
                  <a:srgbClr val="00B050"/>
                </a:solidFill>
              </a:rPr>
              <a:t>Exclude fission on Pu239, Pu240 and Pu242 in FISPACT Python API.</a:t>
            </a:r>
          </a:p>
        </p:txBody>
      </p:sp>
    </p:spTree>
    <p:extLst>
      <p:ext uri="{BB962C8B-B14F-4D97-AF65-F5344CB8AC3E}">
        <p14:creationId xmlns:p14="http://schemas.microsoft.com/office/powerpoint/2010/main" val="396211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74353-55C0-7D7F-4C92-382385E18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117432" cy="44919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8971D"/>
                </a:solidFill>
              </a:rPr>
              <a:t>All nuclides included in fission yields could also be added individually if desired</a:t>
            </a:r>
            <a:r>
              <a:rPr lang="en-GB" b="1" dirty="0"/>
              <a:t>. </a:t>
            </a:r>
            <a:r>
              <a:rPr lang="en-GB" dirty="0"/>
              <a:t>This will include all possible fissions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However, the same result can be obtained via a little trick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If fission is excluded on a fictitious nuclide, it will be included on all existing nuclides.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Usually, we suggest that users exclude the non-existent nuclide </a:t>
            </a:r>
            <a:r>
              <a:rPr lang="en-GB" b="1" dirty="0">
                <a:solidFill>
                  <a:srgbClr val="F8971D"/>
                </a:solidFill>
              </a:rPr>
              <a:t>Es256m: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F8971D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F8971D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F8971D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A49A2E-1697-5CDF-12FF-33D8C2DD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 possible fissions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F778D-1FEF-F7CE-963A-9956E386D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6CC99-C10D-1A4B-9739-4E8F5D74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6444A6-AD5D-A82D-058A-844ADD27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4381144"/>
            <a:ext cx="6527800" cy="7112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D200A5-28A5-2235-B05E-7FBD25DAF166}"/>
              </a:ext>
            </a:extLst>
          </p:cNvPr>
          <p:cNvSpPr txBox="1"/>
          <p:nvPr/>
        </p:nvSpPr>
        <p:spPr>
          <a:xfrm>
            <a:off x="166866" y="5611126"/>
            <a:ext cx="419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50"/>
                </a:solidFill>
              </a:rPr>
              <a:t>Example: </a:t>
            </a:r>
            <a:r>
              <a:rPr lang="en-GB" sz="1600" i="1" dirty="0">
                <a:solidFill>
                  <a:srgbClr val="00B050"/>
                </a:solidFill>
              </a:rPr>
              <a:t>Exclude fission on Es256m to include fission on all others.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9E2C10-ECA1-ABE9-0892-540446489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352" y="5339412"/>
            <a:ext cx="7174894" cy="360826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2FB392-6802-8BA1-823B-E21B651D7B3C}"/>
              </a:ext>
            </a:extLst>
          </p:cNvPr>
          <p:cNvCxnSpPr>
            <a:stCxn id="12" idx="0"/>
          </p:cNvCxnSpPr>
          <p:nvPr/>
        </p:nvCxnSpPr>
        <p:spPr>
          <a:xfrm flipV="1">
            <a:off x="2265483" y="5205046"/>
            <a:ext cx="0" cy="4060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268245-3122-E4B4-4FBF-B18B805EF196}"/>
              </a:ext>
            </a:extLst>
          </p:cNvPr>
          <p:cNvCxnSpPr>
            <a:cxnSpLocks/>
          </p:cNvCxnSpPr>
          <p:nvPr/>
        </p:nvCxnSpPr>
        <p:spPr>
          <a:xfrm flipV="1">
            <a:off x="3949002" y="5687832"/>
            <a:ext cx="972036" cy="21568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F4EC934-D4CF-5DB5-933A-814ECFA23FAA}"/>
              </a:ext>
            </a:extLst>
          </p:cNvPr>
          <p:cNvSpPr txBox="1"/>
          <p:nvPr/>
        </p:nvSpPr>
        <p:spPr>
          <a:xfrm>
            <a:off x="1208783" y="519791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8971D"/>
                </a:solidFill>
              </a:rPr>
              <a:t>Input 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69D478-CB2E-F9A0-FB9B-05523DEE85AE}"/>
              </a:ext>
            </a:extLst>
          </p:cNvPr>
          <p:cNvSpPr txBox="1"/>
          <p:nvPr/>
        </p:nvSpPr>
        <p:spPr>
          <a:xfrm>
            <a:off x="4392689" y="5796137"/>
            <a:ext cx="1326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8971D"/>
                </a:solidFill>
              </a:rPr>
              <a:t>Python API</a:t>
            </a:r>
          </a:p>
        </p:txBody>
      </p:sp>
    </p:spTree>
    <p:extLst>
      <p:ext uri="{BB962C8B-B14F-4D97-AF65-F5344CB8AC3E}">
        <p14:creationId xmlns:p14="http://schemas.microsoft.com/office/powerpoint/2010/main" val="102942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26831B-7AC9-0F8C-3A46-15F1DBFDA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2822" y="1321432"/>
            <a:ext cx="6728961" cy="4491980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Fission can be included in FISPACT-II’s uncertainty-pathway analysis 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i="1" dirty="0">
                <a:solidFill>
                  <a:srgbClr val="F8971D"/>
                </a:solidFill>
              </a:rPr>
              <a:t>[see presentation on Uncertainties and Pathways]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This is done with the </a:t>
            </a:r>
            <a:r>
              <a:rPr lang="en-GB" b="1" dirty="0">
                <a:solidFill>
                  <a:srgbClr val="F8971D"/>
                </a:solidFill>
              </a:rPr>
              <a:t>FISCHOOSE</a:t>
            </a:r>
            <a:r>
              <a:rPr lang="en-GB" dirty="0"/>
              <a:t> keyword. Once again which nuclides should be included is given by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Allows only specific fission pathways to be included.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Uncertainties and Pathways are currently not available in the FISPACT API.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793F2C-2850-724D-1DDF-3CB6EC84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736679"/>
          </a:xfrm>
        </p:spPr>
        <p:txBody>
          <a:bodyPr>
            <a:normAutofit/>
          </a:bodyPr>
          <a:lstStyle/>
          <a:p>
            <a:r>
              <a:rPr lang="en-GB" dirty="0"/>
              <a:t>Include fission in Pathways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CC584-9C1A-A67D-9C2C-1E0DE2A4C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CAE8A-31A8-D1EB-FC7C-78300B64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C1E5E-13EC-49B9-A867-A52C72CC6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8" y="942109"/>
            <a:ext cx="4323991" cy="497895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CCCFDC-2279-0873-5626-A676FD602AD9}"/>
              </a:ext>
            </a:extLst>
          </p:cNvPr>
          <p:cNvSpPr txBox="1"/>
          <p:nvPr/>
        </p:nvSpPr>
        <p:spPr>
          <a:xfrm>
            <a:off x="101600" y="5915891"/>
            <a:ext cx="523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solidFill>
                  <a:srgbClr val="00B050"/>
                </a:solidFill>
              </a:rPr>
              <a:t>Example</a:t>
            </a:r>
            <a:r>
              <a:rPr lang="en-GB" i="1" dirty="0">
                <a:solidFill>
                  <a:srgbClr val="00B050"/>
                </a:solidFill>
              </a:rPr>
              <a:t>: Pathways to I131 from U235 and U238</a:t>
            </a:r>
          </a:p>
        </p:txBody>
      </p:sp>
      <p:pic>
        <p:nvPicPr>
          <p:cNvPr id="9" name="Picture 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5655648-49D3-52E7-E68C-A4E9D346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042" y="3198048"/>
            <a:ext cx="1320800" cy="9652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21708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17E01C-6130-5139-98F7-65BA4FDD8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6" y="1530994"/>
            <a:ext cx="11438979" cy="4491980"/>
          </a:xfrm>
        </p:spPr>
        <p:txBody>
          <a:bodyPr/>
          <a:lstStyle/>
          <a:p>
            <a:r>
              <a:rPr lang="en-GB" b="1" dirty="0">
                <a:solidFill>
                  <a:srgbClr val="F8971D"/>
                </a:solidFill>
              </a:rPr>
              <a:t>Irradiation of UO</a:t>
            </a:r>
            <a:r>
              <a:rPr lang="en-GB" b="1" baseline="-25000" dirty="0">
                <a:solidFill>
                  <a:srgbClr val="F8971D"/>
                </a:solidFill>
              </a:rPr>
              <a:t>2  </a:t>
            </a:r>
            <a:r>
              <a:rPr lang="en-GB" b="1" dirty="0">
                <a:solidFill>
                  <a:srgbClr val="F8971D"/>
                </a:solidFill>
              </a:rPr>
              <a:t>(3% U235) fuel with a PWR spectrum:</a:t>
            </a:r>
            <a:endParaRPr lang="en-GB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Only allow fission on U235 and U238 for this example.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Spectrum taken from FISPACT reference spectra: </a:t>
            </a:r>
            <a:r>
              <a:rPr lang="en-GB" sz="24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https://fispact.ukaea.uk/wiki/Reference_input_spectra</a:t>
            </a:r>
            <a:endParaRPr lang="en-GB" sz="2400" dirty="0">
              <a:solidFill>
                <a:schemeClr val="accent1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Use Nuclear Data from ENDF/BVIIII library (</a:t>
            </a:r>
            <a:r>
              <a:rPr lang="en-GB" sz="2400" dirty="0" err="1"/>
              <a:t>xs</a:t>
            </a:r>
            <a:r>
              <a:rPr lang="en-GB" sz="2400" dirty="0"/>
              <a:t>, decay and fission yields).</a:t>
            </a:r>
          </a:p>
          <a:p>
            <a:pPr marL="1257277" lvl="2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F8971D"/>
                </a:solidFill>
              </a:rPr>
              <a:t>Use independent induced fission yields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Irradiate material for 1 year.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Output inventory every 3 months during irradiation.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Let inventory cool for 100 years:</a:t>
            </a:r>
          </a:p>
          <a:p>
            <a:pPr marL="1257277" lvl="2" indent="-342900">
              <a:buFont typeface="Courier New" panose="02070309020205020404" pitchFamily="49" charset="0"/>
              <a:buChar char="o"/>
            </a:pPr>
            <a:r>
              <a:rPr lang="en-GB" sz="2400" dirty="0"/>
              <a:t>Cooling times: 1hr, 1day, 1year, 5years, 10years, 50years, 100years</a:t>
            </a:r>
          </a:p>
          <a:p>
            <a:endParaRPr lang="en-GB" baseline="-25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F144A6-E6E0-E380-531A-17C2F969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810570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E59F1-8AF9-9B22-7AE4-D94A4FECA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4CC62-C848-63EE-0B82-87C7B731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6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ECC398C4-5820-C323-7338-42D7102DAC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440943" y="3029129"/>
            <a:ext cx="1653464" cy="3037586"/>
          </a:xfrm>
          <a:ln w="28575">
            <a:solidFill>
              <a:srgbClr val="00B050"/>
            </a:solidFill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DC0559-1909-4458-7B51-1DED5BF0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4F369-F1DF-A276-A9B7-4FB83B2330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F1F7C-64A1-6BA0-3811-D639E2DB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8" descr="A black and white table with numbers&#10;&#10;Description automatically generated">
            <a:extLst>
              <a:ext uri="{FF2B5EF4-FFF2-40B4-BE49-F238E27FC236}">
                <a16:creationId xmlns:a16="http://schemas.microsoft.com/office/drawing/2014/main" id="{DE0A4FD5-102D-23E4-B035-88898AEE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542" y="0"/>
            <a:ext cx="1143000" cy="68580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CD176C-EAF2-8BF9-FEB1-A9DBAAE16CF0}"/>
              </a:ext>
            </a:extLst>
          </p:cNvPr>
          <p:cNvSpPr txBox="1"/>
          <p:nvPr/>
        </p:nvSpPr>
        <p:spPr>
          <a:xfrm>
            <a:off x="8510515" y="3624592"/>
            <a:ext cx="1906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8971D"/>
                </a:solidFill>
              </a:rPr>
              <a:t>Inventory atoms by element without fission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63666-95ED-68AD-D37C-A52D18C990A0}"/>
              </a:ext>
            </a:extLst>
          </p:cNvPr>
          <p:cNvSpPr txBox="1"/>
          <p:nvPr/>
        </p:nvSpPr>
        <p:spPr>
          <a:xfrm>
            <a:off x="8583757" y="886690"/>
            <a:ext cx="2184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8971D"/>
                </a:solidFill>
              </a:rPr>
              <a:t>Inventory atoms by element with fission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99B802-2CA9-FE66-3A4F-DBD24897DD05}"/>
              </a:ext>
            </a:extLst>
          </p:cNvPr>
          <p:cNvCxnSpPr>
            <a:stCxn id="11" idx="2"/>
          </p:cNvCxnSpPr>
          <p:nvPr/>
        </p:nvCxnSpPr>
        <p:spPr>
          <a:xfrm flipH="1">
            <a:off x="8537364" y="1533021"/>
            <a:ext cx="1138564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79B9A6-F550-6E10-C678-A5F4E1A4C49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9463933" y="4547922"/>
            <a:ext cx="825141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664699-46A4-04DC-A105-FADF28AB1BAF}"/>
              </a:ext>
            </a:extLst>
          </p:cNvPr>
          <p:cNvSpPr txBox="1"/>
          <p:nvPr/>
        </p:nvSpPr>
        <p:spPr>
          <a:xfrm>
            <a:off x="8583757" y="1948271"/>
            <a:ext cx="3548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Taken from </a:t>
            </a:r>
            <a:r>
              <a:rPr lang="en-GB" i="1" dirty="0"/>
              <a:t>COMPOSITION  OF  MATERIAL  BY  ELEMENT </a:t>
            </a:r>
            <a:r>
              <a:rPr lang="en-GB" dirty="0"/>
              <a:t>section of FISPACT-II output file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6E250-8055-1740-D50F-72A25778FA0E}"/>
              </a:ext>
            </a:extLst>
          </p:cNvPr>
          <p:cNvSpPr txBox="1"/>
          <p:nvPr/>
        </p:nvSpPr>
        <p:spPr>
          <a:xfrm>
            <a:off x="-13020" y="951490"/>
            <a:ext cx="71133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Including fission in an inventory calculation will produce the correct fission products and therefore correct inventory quantities</a:t>
            </a:r>
          </a:p>
        </p:txBody>
      </p:sp>
      <p:pic>
        <p:nvPicPr>
          <p:cNvPr id="22" name="Picture 21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5EAB67D-1201-044B-08D2-A1379760B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9" y="1967153"/>
            <a:ext cx="7040738" cy="41765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4929D90-4240-C062-9D75-ED2284F47032}"/>
              </a:ext>
            </a:extLst>
          </p:cNvPr>
          <p:cNvSpPr txBox="1"/>
          <p:nvPr/>
        </p:nvSpPr>
        <p:spPr>
          <a:xfrm>
            <a:off x="2482075" y="6066715"/>
            <a:ext cx="22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Time after irradiation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6E07B-4C7D-5BDB-8795-49D4910F5FE8}"/>
              </a:ext>
            </a:extLst>
          </p:cNvPr>
          <p:cNvSpPr txBox="1"/>
          <p:nvPr/>
        </p:nvSpPr>
        <p:spPr>
          <a:xfrm>
            <a:off x="3165230" y="2447640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Includes fission on U325, U238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98325-28DE-0CC4-0329-47385F8069EB}"/>
              </a:ext>
            </a:extLst>
          </p:cNvPr>
          <p:cNvSpPr txBox="1"/>
          <p:nvPr/>
        </p:nvSpPr>
        <p:spPr>
          <a:xfrm>
            <a:off x="2782265" y="4363256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8971D"/>
                </a:solidFill>
              </a:rPr>
              <a:t>No fission</a:t>
            </a:r>
          </a:p>
        </p:txBody>
      </p:sp>
    </p:spTree>
    <p:extLst>
      <p:ext uri="{BB962C8B-B14F-4D97-AF65-F5344CB8AC3E}">
        <p14:creationId xmlns:p14="http://schemas.microsoft.com/office/powerpoint/2010/main" val="393756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00DA84-3D9D-2604-7B5B-96BDD2B08E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Fission can be included in FISPACT-II simulations by loading the required data and using the related keywords.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Include fission yield sin files file or API nuclear data object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Include </a:t>
            </a:r>
            <a:r>
              <a:rPr lang="en-GB" b="1" dirty="0">
                <a:solidFill>
                  <a:srgbClr val="F8971D"/>
                </a:solidFill>
              </a:rPr>
              <a:t>USEFISSION</a:t>
            </a:r>
            <a:r>
              <a:rPr lang="en-GB" dirty="0"/>
              <a:t> keyword or </a:t>
            </a:r>
            <a:r>
              <a:rPr lang="en-GB" i="1" dirty="0" err="1">
                <a:solidFill>
                  <a:srgbClr val="F8971D"/>
                </a:solidFill>
              </a:rPr>
              <a:t>Inputdata.setusefission</a:t>
            </a:r>
            <a:r>
              <a:rPr lang="en-GB" dirty="0">
                <a:solidFill>
                  <a:srgbClr val="F8971D"/>
                </a:solidFill>
              </a:rPr>
              <a:t> </a:t>
            </a:r>
            <a:r>
              <a:rPr lang="en-GB" dirty="0"/>
              <a:t>to </a:t>
            </a:r>
            <a:r>
              <a:rPr lang="en-GB" dirty="0">
                <a:solidFill>
                  <a:srgbClr val="00B0F0"/>
                </a:solidFill>
              </a:rPr>
              <a:t>True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dirty="0"/>
              <a:t>Define which nuclides should under fission:</a:t>
            </a:r>
          </a:p>
          <a:p>
            <a:pPr marL="1257277" lvl="2" indent="-342900">
              <a:buFont typeface="Courier New" panose="02070309020205020404" pitchFamily="49" charset="0"/>
              <a:buChar char="o"/>
            </a:pPr>
            <a:r>
              <a:rPr lang="en-GB" b="1" dirty="0">
                <a:solidFill>
                  <a:srgbClr val="F8971D"/>
                </a:solidFill>
              </a:rPr>
              <a:t>FISYIELD</a:t>
            </a:r>
            <a:r>
              <a:rPr lang="en-GB" dirty="0"/>
              <a:t> &lt; number of nuclides &gt;  &lt;list of nuclides &gt;. </a:t>
            </a:r>
          </a:p>
          <a:p>
            <a:pPr marL="1257277" lvl="2" indent="-34290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F8971D"/>
                </a:solidFill>
              </a:rPr>
              <a:t>&lt; number of nuclides &gt; </a:t>
            </a:r>
            <a:r>
              <a:rPr lang="en-GB" dirty="0"/>
              <a:t>Positive for include, Negative for exclude</a:t>
            </a:r>
          </a:p>
          <a:p>
            <a:pPr marL="1257277" lvl="2" indent="-342900">
              <a:buFont typeface="Courier New" panose="02070309020205020404" pitchFamily="49" charset="0"/>
              <a:buChar char="o"/>
            </a:pPr>
            <a:r>
              <a:rPr lang="en-GB" dirty="0"/>
              <a:t>API use </a:t>
            </a:r>
            <a:r>
              <a:rPr lang="en-GB" i="1" dirty="0" err="1">
                <a:solidFill>
                  <a:srgbClr val="F8971D"/>
                </a:solidFill>
              </a:rPr>
              <a:t>Inputdata.setfissionyieldincludes</a:t>
            </a:r>
            <a:r>
              <a:rPr lang="en-GB" i="1" dirty="0"/>
              <a:t> </a:t>
            </a:r>
            <a:r>
              <a:rPr lang="en-GB" dirty="0"/>
              <a:t>and </a:t>
            </a:r>
            <a:r>
              <a:rPr lang="en-GB" i="1" dirty="0" err="1">
                <a:solidFill>
                  <a:srgbClr val="F8971D"/>
                </a:solidFill>
              </a:rPr>
              <a:t>Inputdata.setfissionyieldexclude</a:t>
            </a:r>
            <a:endParaRPr lang="en-GB" i="1" dirty="0">
              <a:solidFill>
                <a:srgbClr val="F8971D"/>
              </a:solidFill>
            </a:endParaRPr>
          </a:p>
          <a:p>
            <a:pPr lvl="2"/>
            <a:endParaRPr lang="en-GB" i="1" dirty="0">
              <a:solidFill>
                <a:srgbClr val="F8971D"/>
              </a:solidFill>
            </a:endParaRPr>
          </a:p>
          <a:p>
            <a:pPr lvl="2"/>
            <a:endParaRPr lang="en-GB" i="1" dirty="0">
              <a:solidFill>
                <a:srgbClr val="F8971D"/>
              </a:solidFill>
            </a:endParaRPr>
          </a:p>
          <a:p>
            <a:r>
              <a:rPr lang="en-GB" b="1" dirty="0">
                <a:solidFill>
                  <a:srgbClr val="F8971D"/>
                </a:solidFill>
              </a:rPr>
              <a:t>Extensions to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8971D"/>
                </a:solidFill>
              </a:rPr>
              <a:t>What if all possible fissions were included?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8971D"/>
                </a:solidFill>
              </a:rPr>
              <a:t>How does using Cumulative yields effect the results?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160A6-F1B5-8A66-E531-50A9D17A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and extension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9E6D9-2B49-7885-6ECD-D21C615572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Fission in FISAPCT-II, FISPACT-II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DA4CA-5BA9-E5C0-6356-3FDAB9DD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7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E">
      <a:dk1>
        <a:srgbClr val="002F56"/>
      </a:dk1>
      <a:lt1>
        <a:srgbClr val="FFFFFF"/>
      </a:lt1>
      <a:dk2>
        <a:srgbClr val="000000"/>
      </a:dk2>
      <a:lt2>
        <a:srgbClr val="D1D2D3"/>
      </a:lt2>
      <a:accent1>
        <a:srgbClr val="F8971D"/>
      </a:accent1>
      <a:accent2>
        <a:srgbClr val="F6D34D"/>
      </a:accent2>
      <a:accent3>
        <a:srgbClr val="006F45"/>
      </a:accent3>
      <a:accent4>
        <a:srgbClr val="0082CA"/>
      </a:accent4>
      <a:accent5>
        <a:srgbClr val="C9242C"/>
      </a:accent5>
      <a:accent6>
        <a:srgbClr val="808283"/>
      </a:accent6>
      <a:hlink>
        <a:srgbClr val="002F56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rreyDTg_KickOff" id="{E90BA2BA-70B4-C244-AAD0-55D445BA6EC7}" vid="{0364BF81-21C6-C043-8C55-F032F55F01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56A6382C7BE4EAEA3E7A1003F1D5F" ma:contentTypeVersion="18" ma:contentTypeDescription="Create a new document." ma:contentTypeScope="" ma:versionID="08ed5461af3d24331e1a83b145fbd5bf">
  <xsd:schema xmlns:xsd="http://www.w3.org/2001/XMLSchema" xmlns:xs="http://www.w3.org/2001/XMLSchema" xmlns:p="http://schemas.microsoft.com/office/2006/metadata/properties" xmlns:ns2="d38bd537-b8b1-44d1-8ac0-d8e48bade3da" xmlns:ns3="572787ab-1bba-46af-bc13-3165bc5c54ec" xmlns:ns4="dcfcfc48-1a2d-42a7-b271-c69307805be1" targetNamespace="http://schemas.microsoft.com/office/2006/metadata/properties" ma:root="true" ma:fieldsID="1a798f6f77ca64c597f6e6aaa4d237b1" ns2:_="" ns3:_="" ns4:_="">
    <xsd:import namespace="d38bd537-b8b1-44d1-8ac0-d8e48bade3da"/>
    <xsd:import namespace="572787ab-1bba-46af-bc13-3165bc5c54ec"/>
    <xsd:import namespace="dcfcfc48-1a2d-42a7-b271-c69307805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bd537-b8b1-44d1-8ac0-d8e48bade3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bc746d9-cbf8-4ec5-9bf9-1cafe5c903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787ab-1bba-46af-bc13-3165bc5c54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cfc48-1a2d-42a7-b271-c69307805be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0675826-a1bc-4d74-89b9-651684c40b09}" ma:internalName="TaxCatchAll" ma:showField="CatchAllData" ma:web="572787ab-1bba-46af-bc13-3165bc5c54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fcfc48-1a2d-42a7-b271-c69307805be1" xsi:nil="true"/>
    <lcf76f155ced4ddcb4097134ff3c332f xmlns="d38bd537-b8b1-44d1-8ac0-d8e48bade3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B877EE-6A43-46F1-B307-933835546A84}"/>
</file>

<file path=customXml/itemProps2.xml><?xml version="1.0" encoding="utf-8"?>
<ds:datastoreItem xmlns:ds="http://schemas.openxmlformats.org/officeDocument/2006/customXml" ds:itemID="{85615125-A226-49F9-BEFC-8578E4136C25}"/>
</file>

<file path=customXml/itemProps3.xml><?xml version="1.0" encoding="utf-8"?>
<ds:datastoreItem xmlns:ds="http://schemas.openxmlformats.org/officeDocument/2006/customXml" ds:itemID="{7AF70088-D2A8-4FFA-82A0-1883CCB592B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</TotalTime>
  <Words>1062</Words>
  <Application>Microsoft Macintosh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Wingdings</vt:lpstr>
      <vt:lpstr>Office Theme</vt:lpstr>
      <vt:lpstr>PowerPoint Presentation</vt:lpstr>
      <vt:lpstr>Fission in FISPACT-II</vt:lpstr>
      <vt:lpstr>Loading Fission Yields</vt:lpstr>
      <vt:lpstr>Include fission in inventory</vt:lpstr>
      <vt:lpstr>Including fission on Nuclides</vt:lpstr>
      <vt:lpstr>Excluding fission on Nuclides</vt:lpstr>
      <vt:lpstr>All possible fissions</vt:lpstr>
      <vt:lpstr>Include fission in Pathways </vt:lpstr>
      <vt:lpstr>Example</vt:lpstr>
      <vt:lpstr>Results</vt:lpstr>
      <vt:lpstr>Summary and extension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Bailey, Greg</dc:creator>
  <cp:lastModifiedBy>Bailey, Greg</cp:lastModifiedBy>
  <cp:revision>18</cp:revision>
  <cp:lastPrinted>2017-03-10T11:43:47Z</cp:lastPrinted>
  <dcterms:created xsi:type="dcterms:W3CDTF">2024-06-10T10:33:04Z</dcterms:created>
  <dcterms:modified xsi:type="dcterms:W3CDTF">2024-06-11T10:10:20Z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a6a99a-764a-4c22-9350-606280abcb84_Enabled">
    <vt:lpwstr>true</vt:lpwstr>
  </property>
  <property fmtid="{D5CDD505-2E9C-101B-9397-08002B2CF9AE}" pid="3" name="MSIP_Label_a8a6a99a-764a-4c22-9350-606280abcb84_SetDate">
    <vt:lpwstr>2022-04-11T08:13:25Z</vt:lpwstr>
  </property>
  <property fmtid="{D5CDD505-2E9C-101B-9397-08002B2CF9AE}" pid="4" name="MSIP_Label_a8a6a99a-764a-4c22-9350-606280abcb84_Method">
    <vt:lpwstr>Privileged</vt:lpwstr>
  </property>
  <property fmtid="{D5CDD505-2E9C-101B-9397-08002B2CF9AE}" pid="5" name="MSIP_Label_a8a6a99a-764a-4c22-9350-606280abcb84_Name">
    <vt:lpwstr>a8a6a99a-764a-4c22-9350-606280abcb84</vt:lpwstr>
  </property>
  <property fmtid="{D5CDD505-2E9C-101B-9397-08002B2CF9AE}" pid="6" name="MSIP_Label_a8a6a99a-764a-4c22-9350-606280abcb84_SiteId">
    <vt:lpwstr>c6ac664b-ae27-4d5d-b4e6-bb5717196fc7</vt:lpwstr>
  </property>
  <property fmtid="{D5CDD505-2E9C-101B-9397-08002B2CF9AE}" pid="7" name="MSIP_Label_a8a6a99a-764a-4c22-9350-606280abcb84_ActionId">
    <vt:lpwstr>0a62330b-8551-4fad-b1a6-6f64db08dbf2</vt:lpwstr>
  </property>
  <property fmtid="{D5CDD505-2E9C-101B-9397-08002B2CF9AE}" pid="8" name="MSIP_Label_a8a6a99a-764a-4c22-9350-606280abcb84_ContentBits">
    <vt:lpwstr>0</vt:lpwstr>
  </property>
  <property fmtid="{D5CDD505-2E9C-101B-9397-08002B2CF9AE}" pid="9" name="ContentTypeId">
    <vt:lpwstr>0x01010045F56A6382C7BE4EAEA3E7A1003F1D5F</vt:lpwstr>
  </property>
</Properties>
</file>