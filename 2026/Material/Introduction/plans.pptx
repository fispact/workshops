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8"/>
  </p:normalViewPr>
  <p:slideViewPr>
    <p:cSldViewPr snapToGrid="0">
      <p:cViewPr varScale="1">
        <p:scale>
          <a:sx n="118" d="100"/>
          <a:sy n="118" d="100"/>
        </p:scale>
        <p:origin x="5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929A1-2DCD-CC94-A793-BEB010523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2B32CC-1665-D389-09FD-325F7E166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F37BE-16EE-F36C-4F8F-844476B2C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0FF4D-9FF2-B943-A7A4-54C1997B9ED8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2BABE-548E-38BB-AEAB-76E411F03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01EF6-CEEC-BAA0-477F-E9CBE17E8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A0DD8-E624-FE45-8A42-FB1832D8C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928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63C64-96F5-EEF9-8E0C-FC1B1D926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E9388-676F-0B14-8395-F1B304E0E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5BF6F-6DDF-9DCE-00B4-E17325237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0FF4D-9FF2-B943-A7A4-54C1997B9ED8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46FB7-CA61-4D7E-B19A-93E3ECE52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0D6B6-C991-AA1A-4749-AC4722FE0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A0DD8-E624-FE45-8A42-FB1832D8C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205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6108D-A080-9F0D-A7DD-EBE2629B3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F40FFA-F6E6-ABAC-D1F9-109E67513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4F463-82FB-B982-9A66-E6BCCA7AE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0FF4D-9FF2-B943-A7A4-54C1997B9ED8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E8D56-E8C5-D82F-1614-0D8F8F403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B11CA-4B26-AE46-B407-CB936CAF7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A0DD8-E624-FE45-8A42-FB1832D8C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716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EFBE1-94E6-2C5D-544C-F98779F52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C6D34-1EEB-7D01-C832-7717102B13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8C8A4E-2CFD-2469-DF0A-23F6A3523D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84B0F-CFCF-51BB-B835-327B4F986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0FF4D-9FF2-B943-A7A4-54C1997B9ED8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5C5D80-77AA-AF20-288C-EECFEA62E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0D92B7-5D9F-D8D5-1CD4-ACCAD7C65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A0DD8-E624-FE45-8A42-FB1832D8C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135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7F296-D4FF-AC54-BD38-896DF100F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94591-EAE3-B948-E185-D47D4C2AF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D3F9A-BC23-AA73-44E1-9E8609884C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2D3D49-1732-DE87-3296-02DE8BF395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E7E677-1B17-14DD-BA90-25E7A3A302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81575-15B8-5056-E8D3-028ABA173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0FF4D-9FF2-B943-A7A4-54C1997B9ED8}" type="datetimeFigureOut">
              <a:rPr lang="en-US" smtClean="0"/>
              <a:t>5/31/26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42250A-0646-CE1E-D9A1-082285AAD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6B50BF-7DC5-9544-0635-EF9BB4B87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A0DD8-E624-FE45-8A42-FB1832D8C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139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635CF-4F09-B8EB-50C2-08963D398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BDA570-6122-FA07-3D71-5D9DC63DB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0FF4D-9FF2-B943-A7A4-54C1997B9ED8}" type="datetimeFigureOut">
              <a:rPr lang="en-US" smtClean="0"/>
              <a:t>5/31/26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E1443D-E79F-2BDD-16EB-FA6AC779C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F9D678-E3EF-5800-8C51-1BDF2F63E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A0DD8-E624-FE45-8A42-FB1832D8C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144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032592-6AD8-716C-5E73-8E292956A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0FF4D-9FF2-B943-A7A4-54C1997B9ED8}" type="datetimeFigureOut">
              <a:rPr lang="en-US" smtClean="0"/>
              <a:t>5/31/26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51AD74-A76E-296C-D963-3C8C323A1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70818-A54B-45C3-7735-038F7F0E5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A0DD8-E624-FE45-8A42-FB1832D8C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436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F8035-5B1D-C02F-38CE-67AD89F1F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7D505-4B6C-3C58-5F65-124FF4FFC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BF952C-E6C3-00B9-ED2C-F376E18D9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51779C-D10B-0878-66B0-F8FEF9D22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0FF4D-9FF2-B943-A7A4-54C1997B9ED8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31A02-A616-D9B5-BE80-0019F6435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DB437-5431-06A0-E1A4-8136C301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A0DD8-E624-FE45-8A42-FB1832D8C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622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C9E0A-1AF4-70E2-6FFC-D854AE406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2AC19B-E988-0054-A1C2-A4A9C43BA9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A82703-1A14-EB41-8BDE-25EAB30120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FBF70-38D0-624B-25C3-C2F91FC34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0FF4D-9FF2-B943-A7A4-54C1997B9ED8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6360A9-73E3-DEA3-8BD3-509E7FD80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A8B51C-4BD9-6C02-B789-37C922CB6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A0DD8-E624-FE45-8A42-FB1832D8C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780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3E0D7-7BE1-8488-5728-B836BE1A7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5D7FC9-7675-27E5-191D-B67F24F13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9F2E3-0F54-A5FE-FA4D-900BF3BA6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0FF4D-9FF2-B943-A7A4-54C1997B9ED8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8016A-B1A1-5C83-E294-3F4FCF4ED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1BEEF-0380-DA41-624B-AD2F6864E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A0DD8-E624-FE45-8A42-FB1832D8C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196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DE3592-15D8-61DA-124A-D27EB98F06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B71FB0-8427-DD4D-5A7C-45549F406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F8B11-0C6F-9D0D-FC28-C18ED9803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0FF4D-9FF2-B943-A7A4-54C1997B9ED8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B4A25-0744-5F3A-AA21-4E1D274B8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BC22A-7417-8F84-A1F6-78CE2B41E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A0DD8-E624-FE45-8A42-FB1832D8C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528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8687A0-AA97-7B63-E08F-B96FE31D9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37926-E894-3939-5CB5-C6268C7A9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9E4CD-A6A1-306D-3F3F-456869FC84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30FF4D-9FF2-B943-A7A4-54C1997B9ED8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0ED08-C471-EFF5-D4CC-B3307774D4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49144-24EB-FE02-0D72-03FE9C3D19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AA0DD8-E624-FE45-8A42-FB1832D8C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771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39E872-489B-9267-CC82-91772287140F}"/>
              </a:ext>
            </a:extLst>
          </p:cNvPr>
          <p:cNvSpPr txBox="1"/>
          <p:nvPr/>
        </p:nvSpPr>
        <p:spPr>
          <a:xfrm>
            <a:off x="315685" y="293915"/>
            <a:ext cx="11560629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Course format</a:t>
            </a:r>
          </a:p>
          <a:p>
            <a:r>
              <a:rPr lang="en-GB" dirty="0"/>
              <a:t>The course format will be a lecture, a worked example followed by an exercise session interspersed with short examples. The aim is to work through the exercises with support.</a:t>
            </a:r>
          </a:p>
          <a:p>
            <a:endParaRPr lang="en-GB" b="1" dirty="0"/>
          </a:p>
          <a:p>
            <a:r>
              <a:rPr lang="en-GB" b="1" dirty="0"/>
              <a:t>Day 1 </a:t>
            </a:r>
          </a:p>
          <a:p>
            <a:endParaRPr lang="en-GB" dirty="0"/>
          </a:p>
          <a:p>
            <a:r>
              <a:rPr lang="en-GB" dirty="0"/>
              <a:t>9:00 - 10:00    Arrival  and introduction.</a:t>
            </a:r>
            <a:br>
              <a:rPr lang="en-GB" dirty="0"/>
            </a:br>
            <a:endParaRPr lang="en-GB" dirty="0"/>
          </a:p>
          <a:p>
            <a:r>
              <a:rPr lang="en-GB" b="1" dirty="0"/>
              <a:t>10:00 Break</a:t>
            </a:r>
            <a:br>
              <a:rPr lang="en-GB" dirty="0"/>
            </a:br>
            <a:endParaRPr lang="en-GB" dirty="0"/>
          </a:p>
          <a:p>
            <a:r>
              <a:rPr lang="en-GB" dirty="0"/>
              <a:t>10:00 - 11:00    Introduction to FISPACT-II. What is FISPACT-II (</a:t>
            </a:r>
            <a:r>
              <a:rPr lang="en-GB" dirty="0" err="1"/>
              <a:t>workshop_introduction.pdf</a:t>
            </a:r>
            <a:r>
              <a:rPr lang="en-GB" dirty="0"/>
              <a:t>)</a:t>
            </a:r>
          </a:p>
          <a:p>
            <a:br>
              <a:rPr lang="en-GB" dirty="0"/>
            </a:br>
            <a:r>
              <a:rPr lang="en-GB" b="1" dirty="0"/>
              <a:t>12:00 - 14:00    Lunch</a:t>
            </a:r>
          </a:p>
          <a:p>
            <a:br>
              <a:rPr lang="en-GB" dirty="0"/>
            </a:br>
            <a:r>
              <a:rPr lang="en-GB" dirty="0"/>
              <a:t>14:00 - 15:00    The work through (</a:t>
            </a:r>
            <a:r>
              <a:rPr lang="en-GB" dirty="0" err="1"/>
              <a:t>FISPACT_Worked_example.pdf</a:t>
            </a:r>
            <a:r>
              <a:rPr lang="en-GB" dirty="0"/>
              <a:t>)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b="1" dirty="0"/>
              <a:t>15:00 Break</a:t>
            </a:r>
            <a:br>
              <a:rPr lang="en-GB" dirty="0"/>
            </a:br>
            <a:endParaRPr lang="en-GB" dirty="0"/>
          </a:p>
          <a:p>
            <a:r>
              <a:rPr lang="en-GB" dirty="0"/>
              <a:t>15:00 - 16:00    Exercises + files file ND example (</a:t>
            </a:r>
            <a:r>
              <a:rPr lang="en-GB" dirty="0" err="1"/>
              <a:t>ND_DEMO.pdf</a:t>
            </a:r>
            <a:r>
              <a:rPr lang="en-GB" dirty="0"/>
              <a:t>)</a:t>
            </a:r>
            <a:br>
              <a:rPr lang="en-GB" dirty="0"/>
            </a:br>
            <a:r>
              <a:rPr lang="en-GB" dirty="0"/>
              <a:t>16:00 - 17:00    Exercises plus proton/neutron tungsten work through (no slides)</a:t>
            </a:r>
          </a:p>
          <a:p>
            <a:br>
              <a:rPr lang="en-GB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93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14B701-6B71-41FA-D33D-324146AC19C4}"/>
              </a:ext>
            </a:extLst>
          </p:cNvPr>
          <p:cNvSpPr txBox="1"/>
          <p:nvPr/>
        </p:nvSpPr>
        <p:spPr>
          <a:xfrm>
            <a:off x="293914" y="283029"/>
            <a:ext cx="1164771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Day 2 </a:t>
            </a:r>
            <a:r>
              <a:rPr lang="en-GB" dirty="0"/>
              <a:t>- Wednesday 19 June</a:t>
            </a:r>
          </a:p>
          <a:p>
            <a:endParaRPr lang="en-GB" dirty="0"/>
          </a:p>
          <a:p>
            <a:r>
              <a:rPr lang="en-GB" dirty="0"/>
              <a:t> 9:00 - 10:00    Uncertainties and Pathways demo (</a:t>
            </a:r>
            <a:r>
              <a:rPr lang="en-GB" dirty="0" err="1"/>
              <a:t>FISPACT_Uncertainties_Pathways_worked_example.pdf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b="1" dirty="0"/>
              <a:t>10:00 Break</a:t>
            </a:r>
          </a:p>
          <a:p>
            <a:br>
              <a:rPr lang="en-GB" dirty="0"/>
            </a:br>
            <a:r>
              <a:rPr lang="en-GB" dirty="0"/>
              <a:t>10:00 - 11:00    Fission (</a:t>
            </a:r>
            <a:r>
              <a:rPr lang="en-GB" dirty="0" err="1"/>
              <a:t>fission.pdf</a:t>
            </a:r>
            <a:r>
              <a:rPr lang="en-GB" dirty="0"/>
              <a:t>)</a:t>
            </a:r>
          </a:p>
          <a:p>
            <a:endParaRPr lang="en-GB" b="1" dirty="0"/>
          </a:p>
          <a:p>
            <a:r>
              <a:rPr lang="en-GB" b="1" dirty="0"/>
              <a:t>12:00 - 14:00    Lunch</a:t>
            </a:r>
          </a:p>
          <a:p>
            <a:br>
              <a:rPr lang="en-GB" dirty="0"/>
            </a:br>
            <a:r>
              <a:rPr lang="en-GB" dirty="0"/>
              <a:t>14:00 - 15:00    FISPACT API work through example (</a:t>
            </a:r>
            <a:r>
              <a:rPr lang="en-GB" dirty="0" err="1"/>
              <a:t>APIanalysis.pptx</a:t>
            </a:r>
            <a:r>
              <a:rPr lang="en-GB" dirty="0"/>
              <a:t>)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b="1" dirty="0"/>
              <a:t>15:00 Break</a:t>
            </a:r>
            <a:br>
              <a:rPr lang="en-GB" dirty="0"/>
            </a:br>
            <a:r>
              <a:rPr lang="en-GB" dirty="0"/>
              <a:t>15:00 - 15:30    Exercise + GG bins example (</a:t>
            </a:r>
            <a:r>
              <a:rPr lang="en-GB" dirty="0" err="1"/>
              <a:t>ggbins_example.pptx</a:t>
            </a:r>
            <a:r>
              <a:rPr lang="en-GB" dirty="0"/>
              <a:t>)</a:t>
            </a:r>
          </a:p>
          <a:p>
            <a:endParaRPr lang="en-GB" dirty="0"/>
          </a:p>
          <a:p>
            <a:r>
              <a:rPr lang="en-GB" dirty="0"/>
              <a:t>15:30 - 16:00    Example: </a:t>
            </a:r>
            <a:r>
              <a:rPr lang="en-GB" dirty="0" err="1"/>
              <a:t>Nuc</a:t>
            </a:r>
            <a:r>
              <a:rPr lang="en-GB" dirty="0"/>
              <a:t> graph (note you need </a:t>
            </a:r>
            <a:r>
              <a:rPr lang="en-GB" dirty="0" err="1"/>
              <a:t>ng_style</a:t>
            </a:r>
            <a:r>
              <a:rPr lang="en-GB" dirty="0"/>
              <a:t> as the </a:t>
            </a:r>
            <a:r>
              <a:rPr lang="en-GB" dirty="0" err="1"/>
              <a:t>gnuplot</a:t>
            </a:r>
            <a:r>
              <a:rPr lang="en-GB" dirty="0"/>
              <a:t> style file)</a:t>
            </a:r>
            <a:br>
              <a:rPr lang="en-GB" dirty="0"/>
            </a:br>
            <a:r>
              <a:rPr lang="en-GB" dirty="0"/>
              <a:t>16:00 - 17:00    Exercise + Group convert (</a:t>
            </a:r>
            <a:r>
              <a:rPr lang="en-GB" dirty="0" err="1"/>
              <a:t>groupconvert.pptx</a:t>
            </a:r>
            <a:r>
              <a:rPr lang="en-GB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621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E7058C-2440-8A34-0C7F-5578C7927150}"/>
              </a:ext>
            </a:extLst>
          </p:cNvPr>
          <p:cNvSpPr txBox="1"/>
          <p:nvPr/>
        </p:nvSpPr>
        <p:spPr>
          <a:xfrm>
            <a:off x="359230" y="446314"/>
            <a:ext cx="11571514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Day 3 </a:t>
            </a:r>
          </a:p>
          <a:p>
            <a:endParaRPr lang="en-GB" dirty="0"/>
          </a:p>
          <a:p>
            <a:r>
              <a:rPr lang="en-GB" dirty="0"/>
              <a:t> 9:00 - 10:00    Basic work through + tolerances (</a:t>
            </a:r>
            <a:r>
              <a:rPr lang="en-GB" dirty="0" err="1"/>
              <a:t>FISPACT_numerical_solver_tol.pdf</a:t>
            </a:r>
            <a:r>
              <a:rPr lang="en-GB" dirty="0"/>
              <a:t>)</a:t>
            </a:r>
            <a:br>
              <a:rPr lang="en-GB" dirty="0"/>
            </a:br>
            <a:endParaRPr lang="en-GB" dirty="0"/>
          </a:p>
          <a:p>
            <a:r>
              <a:rPr lang="en-GB" b="1" dirty="0"/>
              <a:t>10:00 Break</a:t>
            </a:r>
            <a:br>
              <a:rPr lang="en-GB" dirty="0"/>
            </a:br>
            <a:endParaRPr lang="en-GB" dirty="0"/>
          </a:p>
          <a:p>
            <a:r>
              <a:rPr lang="en-GB" dirty="0"/>
              <a:t>10:00 - 11:00    Talk: Prof. Mark Gilbert.</a:t>
            </a:r>
          </a:p>
          <a:p>
            <a:br>
              <a:rPr lang="en-GB" dirty="0"/>
            </a:br>
            <a:r>
              <a:rPr lang="en-GB" b="1" dirty="0"/>
              <a:t>12:00 - 14:00    Lunch</a:t>
            </a:r>
          </a:p>
          <a:p>
            <a:br>
              <a:rPr lang="en-GB" dirty="0"/>
            </a:br>
            <a:r>
              <a:rPr lang="en-GB" dirty="0"/>
              <a:t>14:00 - 15:00    Self shielding (</a:t>
            </a:r>
            <a:r>
              <a:rPr lang="en-GB" dirty="0" err="1"/>
              <a:t>FISPACT_Self_sheilding_demo.pdf</a:t>
            </a:r>
            <a:r>
              <a:rPr lang="en-GB" dirty="0"/>
              <a:t>)</a:t>
            </a:r>
          </a:p>
          <a:p>
            <a:endParaRPr lang="en-GB" b="1" dirty="0"/>
          </a:p>
          <a:p>
            <a:r>
              <a:rPr lang="en-GB" b="1" dirty="0"/>
              <a:t>15:00 Break</a:t>
            </a:r>
            <a:br>
              <a:rPr lang="en-GB" dirty="0"/>
            </a:br>
            <a:endParaRPr lang="en-GB" dirty="0"/>
          </a:p>
          <a:p>
            <a:r>
              <a:rPr lang="en-GB" dirty="0"/>
              <a:t>15:00 - 16:00    Exercises and final questions</a:t>
            </a:r>
            <a:br>
              <a:rPr lang="en-GB" dirty="0"/>
            </a:br>
            <a:r>
              <a:rPr lang="en-GB" dirty="0"/>
              <a:t>16:00 - 17:00    Wrap up and end</a:t>
            </a:r>
          </a:p>
          <a:p>
            <a:endParaRPr lang="en-GB" dirty="0"/>
          </a:p>
          <a:p>
            <a:r>
              <a:rPr lang="en-GB" b="1" dirty="0"/>
              <a:t>FISPACT-II Exercises:</a:t>
            </a:r>
          </a:p>
          <a:p>
            <a:endParaRPr lang="en-GB" dirty="0"/>
          </a:p>
          <a:p>
            <a:r>
              <a:rPr lang="en-GB" b="1" dirty="0"/>
              <a:t>Basic: -</a:t>
            </a:r>
            <a:r>
              <a:rPr lang="en-GB" dirty="0" err="1"/>
              <a:t>basic_exercises.pdf</a:t>
            </a:r>
            <a:endParaRPr lang="en-GB" dirty="0"/>
          </a:p>
          <a:p>
            <a:r>
              <a:rPr lang="en-GB" b="1" dirty="0"/>
              <a:t>Extended: - </a:t>
            </a:r>
            <a:r>
              <a:rPr lang="en-GB" dirty="0" err="1"/>
              <a:t>extended_exercises.pdf</a:t>
            </a:r>
            <a:endParaRPr lang="en-GB" dirty="0"/>
          </a:p>
          <a:p>
            <a:r>
              <a:rPr lang="en-GB" b="1" dirty="0"/>
              <a:t>Advanced:</a:t>
            </a:r>
            <a:r>
              <a:rPr lang="en-GB" dirty="0"/>
              <a:t>- </a:t>
            </a:r>
            <a:r>
              <a:rPr lang="en-GB" dirty="0" err="1"/>
              <a:t>exercises_advanced.pdf</a:t>
            </a:r>
            <a:endParaRPr lang="en-GB" dirty="0"/>
          </a:p>
          <a:p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993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333</Words>
  <Application>Microsoft Macintosh PowerPoint</Application>
  <PresentationFormat>Widescreen</PresentationFormat>
  <Paragraphs>43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Foster, David</dc:creator>
  <cp:lastModifiedBy>Foster, David</cp:lastModifiedBy>
  <cp:revision>1</cp:revision>
  <dcterms:created xsi:type="dcterms:W3CDTF">2026-05-31T18:42:50Z</dcterms:created>
  <dcterms:modified xsi:type="dcterms:W3CDTF">2026-05-31T20:40:42Z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2759de7-3255-46b5-8dfe-736652f9c6c1_Enabled">
    <vt:lpwstr>true</vt:lpwstr>
  </property>
  <property fmtid="{D5CDD505-2E9C-101B-9397-08002B2CF9AE}" pid="3" name="MSIP_Label_22759de7-3255-46b5-8dfe-736652f9c6c1_SetDate">
    <vt:lpwstr>2026-05-31T19:09:46Z</vt:lpwstr>
  </property>
  <property fmtid="{D5CDD505-2E9C-101B-9397-08002B2CF9AE}" pid="4" name="MSIP_Label_22759de7-3255-46b5-8dfe-736652f9c6c1_Method">
    <vt:lpwstr>Standard</vt:lpwstr>
  </property>
  <property fmtid="{D5CDD505-2E9C-101B-9397-08002B2CF9AE}" pid="5" name="MSIP_Label_22759de7-3255-46b5-8dfe-736652f9c6c1_Name">
    <vt:lpwstr>22759de7-3255-46b5-8dfe-736652f9c6c1</vt:lpwstr>
  </property>
  <property fmtid="{D5CDD505-2E9C-101B-9397-08002B2CF9AE}" pid="6" name="MSIP_Label_22759de7-3255-46b5-8dfe-736652f9c6c1_SiteId">
    <vt:lpwstr>c6ac664b-ae27-4d5d-b4e6-bb5717196fc7</vt:lpwstr>
  </property>
  <property fmtid="{D5CDD505-2E9C-101B-9397-08002B2CF9AE}" pid="7" name="MSIP_Label_22759de7-3255-46b5-8dfe-736652f9c6c1_ActionId">
    <vt:lpwstr>abfac1a5-be55-4598-bbb8-f6b7e2b42bcc</vt:lpwstr>
  </property>
  <property fmtid="{D5CDD505-2E9C-101B-9397-08002B2CF9AE}" pid="8" name="MSIP_Label_22759de7-3255-46b5-8dfe-736652f9c6c1_ContentBits">
    <vt:lpwstr>0</vt:lpwstr>
  </property>
  <property fmtid="{D5CDD505-2E9C-101B-9397-08002B2CF9AE}" pid="9" name="MSIP_Label_22759de7-3255-46b5-8dfe-736652f9c6c1_Tag">
    <vt:lpwstr>50, 3, 0, 1</vt:lpwstr>
  </property>
</Properties>
</file>